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Object Sans" panose="020B0604020202020204" charset="0"/>
      <p:regular r:id="rId30"/>
    </p:embeddedFont>
    <p:embeddedFont>
      <p:font typeface="Object Sans Bold" panose="020B0604020202020204" charset="0"/>
      <p:regular r:id="rId31"/>
    </p:embeddedFont>
    <p:embeddedFont>
      <p:font typeface="Object Sans Bold Italics" panose="020B0604020202020204" charset="0"/>
      <p:regular r:id="rId32"/>
    </p:embeddedFont>
    <p:embeddedFont>
      <p:font typeface="Object Sans Italics"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kaggle.com/datasets/ahmedmohamed2003/cafe-sales-dirty-data-for-cleaning-training" TargetMode="Externa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201716" y="1134687"/>
            <a:ext cx="19939944" cy="8556049"/>
          </a:xfrm>
          <a:custGeom>
            <a:avLst/>
            <a:gdLst/>
            <a:ahLst/>
            <a:cxnLst/>
            <a:rect l="l" t="t" r="r" b="b"/>
            <a:pathLst>
              <a:path w="19939944" h="8556049">
                <a:moveTo>
                  <a:pt x="0" y="0"/>
                </a:moveTo>
                <a:lnTo>
                  <a:pt x="19939944" y="0"/>
                </a:lnTo>
                <a:lnTo>
                  <a:pt x="19939944" y="8556048"/>
                </a:lnTo>
                <a:lnTo>
                  <a:pt x="0" y="8556048"/>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1122611" y="4241684"/>
            <a:ext cx="16042779" cy="1171027"/>
          </a:xfrm>
          <a:prstGeom prst="rect">
            <a:avLst/>
          </a:prstGeom>
        </p:spPr>
        <p:txBody>
          <a:bodyPr lIns="0" tIns="0" rIns="0" bIns="0" rtlCol="0" anchor="t">
            <a:spAutoFit/>
          </a:bodyPr>
          <a:lstStyle/>
          <a:p>
            <a:pPr algn="ctr">
              <a:lnSpc>
                <a:spcPts val="8050"/>
              </a:lnSpc>
            </a:pPr>
            <a:r>
              <a:rPr lang="en-US" sz="10455" spc="-836">
                <a:solidFill>
                  <a:srgbClr val="292B2D"/>
                </a:solidFill>
                <a:latin typeface="Object Sans"/>
                <a:ea typeface="Object Sans"/>
                <a:cs typeface="Object Sans"/>
                <a:sym typeface="Object Sans"/>
              </a:rPr>
              <a:t>CS338. HOMEWORK 1</a:t>
            </a:r>
          </a:p>
        </p:txBody>
      </p:sp>
      <p:grpSp>
        <p:nvGrpSpPr>
          <p:cNvPr id="5" name="Group 5"/>
          <p:cNvGrpSpPr/>
          <p:nvPr/>
        </p:nvGrpSpPr>
        <p:grpSpPr>
          <a:xfrm>
            <a:off x="6193831" y="5129213"/>
            <a:ext cx="5900337" cy="1729331"/>
            <a:chOff x="0" y="-19050"/>
            <a:chExt cx="7867116" cy="2305776"/>
          </a:xfrm>
        </p:grpSpPr>
        <p:sp>
          <p:nvSpPr>
            <p:cNvPr id="6" name="TextBox 6"/>
            <p:cNvSpPr txBox="1"/>
            <p:nvPr/>
          </p:nvSpPr>
          <p:spPr>
            <a:xfrm>
              <a:off x="0" y="1604231"/>
              <a:ext cx="7867116" cy="682495"/>
            </a:xfrm>
            <a:prstGeom prst="rect">
              <a:avLst/>
            </a:prstGeom>
          </p:spPr>
          <p:txBody>
            <a:bodyPr lIns="0" tIns="0" rIns="0" bIns="0" rtlCol="0" anchor="t">
              <a:spAutoFit/>
            </a:bodyPr>
            <a:lstStyle/>
            <a:p>
              <a:pPr algn="ctr">
                <a:lnSpc>
                  <a:spcPts val="4339"/>
                </a:lnSpc>
              </a:pPr>
              <a:r>
                <a:rPr lang="en-US" sz="3099" dirty="0">
                  <a:solidFill>
                    <a:srgbClr val="292B2D"/>
                  </a:solidFill>
                  <a:latin typeface="Object Sans"/>
                  <a:ea typeface="Object Sans"/>
                  <a:cs typeface="Object Sans"/>
                  <a:sym typeface="Object Sans"/>
                </a:rPr>
                <a:t>22520109 – NGUYEN GIA BAO</a:t>
              </a:r>
            </a:p>
          </p:txBody>
        </p:sp>
        <p:sp>
          <p:nvSpPr>
            <p:cNvPr id="7" name="TextBox 7"/>
            <p:cNvSpPr txBox="1"/>
            <p:nvPr/>
          </p:nvSpPr>
          <p:spPr>
            <a:xfrm>
              <a:off x="0" y="1211452"/>
              <a:ext cx="7867116" cy="355600"/>
            </a:xfrm>
            <a:prstGeom prst="rect">
              <a:avLst/>
            </a:prstGeom>
          </p:spPr>
          <p:txBody>
            <a:bodyPr lIns="0" tIns="0" rIns="0" bIns="0" rtlCol="0" anchor="t">
              <a:spAutoFit/>
            </a:bodyPr>
            <a:lstStyle/>
            <a:p>
              <a:pPr algn="ctr">
                <a:lnSpc>
                  <a:spcPts val="2160"/>
                </a:lnSpc>
              </a:pPr>
              <a:r>
                <a:rPr lang="en-US" sz="1800" b="1">
                  <a:solidFill>
                    <a:srgbClr val="292B2D"/>
                  </a:solidFill>
                  <a:latin typeface="Object Sans Bold"/>
                  <a:ea typeface="Object Sans Bold"/>
                  <a:cs typeface="Object Sans Bold"/>
                  <a:sym typeface="Object Sans Bold"/>
                </a:rPr>
                <a:t>Presented By</a:t>
              </a:r>
            </a:p>
          </p:txBody>
        </p:sp>
        <p:sp>
          <p:nvSpPr>
            <p:cNvPr id="8" name="TextBox 8"/>
            <p:cNvSpPr txBox="1"/>
            <p:nvPr/>
          </p:nvSpPr>
          <p:spPr>
            <a:xfrm>
              <a:off x="0" y="-19050"/>
              <a:ext cx="7867116" cy="438150"/>
            </a:xfrm>
            <a:prstGeom prst="rect">
              <a:avLst/>
            </a:prstGeom>
          </p:spPr>
          <p:txBody>
            <a:bodyPr lIns="0" tIns="0" rIns="0" bIns="0" rtlCol="0" anchor="t">
              <a:spAutoFit/>
            </a:bodyPr>
            <a:lstStyle/>
            <a:p>
              <a:pPr algn="ctr">
                <a:lnSpc>
                  <a:spcPts val="2520"/>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TextBox 2"/>
          <p:cNvSpPr txBox="1"/>
          <p:nvPr/>
        </p:nvSpPr>
        <p:spPr>
          <a:xfrm>
            <a:off x="1028700" y="1171575"/>
            <a:ext cx="6943415" cy="1282063"/>
          </a:xfrm>
          <a:prstGeom prst="rect">
            <a:avLst/>
          </a:prstGeom>
        </p:spPr>
        <p:txBody>
          <a:bodyPr lIns="0" tIns="0" rIns="0" bIns="0" rtlCol="0" anchor="t">
            <a:spAutoFit/>
          </a:bodyPr>
          <a:lstStyle/>
          <a:p>
            <a:pPr algn="l">
              <a:lnSpc>
                <a:spcPts val="4859"/>
              </a:lnSpc>
            </a:pPr>
            <a:r>
              <a:rPr lang="en-US" sz="5399" b="1" spc="-269">
                <a:solidFill>
                  <a:srgbClr val="292B2D"/>
                </a:solidFill>
                <a:latin typeface="Object Sans Bold"/>
                <a:ea typeface="Object Sans Bold"/>
                <a:cs typeface="Object Sans Bold"/>
                <a:sym typeface="Object Sans Bold"/>
              </a:rPr>
              <a:t>CONTENTS </a:t>
            </a:r>
          </a:p>
          <a:p>
            <a:pPr algn="l">
              <a:lnSpc>
                <a:spcPts val="4859"/>
              </a:lnSpc>
            </a:pPr>
            <a:r>
              <a:rPr lang="en-US" sz="5399" b="1" spc="-269">
                <a:solidFill>
                  <a:srgbClr val="292B2D"/>
                </a:solidFill>
                <a:latin typeface="Object Sans Bold"/>
                <a:ea typeface="Object Sans Bold"/>
                <a:cs typeface="Object Sans Bold"/>
                <a:sym typeface="Object Sans Bold"/>
              </a:rPr>
              <a:t>SUMMARY</a:t>
            </a:r>
          </a:p>
        </p:txBody>
      </p:sp>
      <p:sp>
        <p:nvSpPr>
          <p:cNvPr id="3" name="TextBox 3"/>
          <p:cNvSpPr txBox="1"/>
          <p:nvPr/>
        </p:nvSpPr>
        <p:spPr>
          <a:xfrm>
            <a:off x="4669250" y="2589921"/>
            <a:ext cx="8949500" cy="622936"/>
          </a:xfrm>
          <a:prstGeom prst="rect">
            <a:avLst/>
          </a:prstGeom>
        </p:spPr>
        <p:txBody>
          <a:bodyPr lIns="0" tIns="0" rIns="0" bIns="0" rtlCol="0" anchor="t">
            <a:spAutoFit/>
          </a:bodyPr>
          <a:lstStyle/>
          <a:p>
            <a:pPr algn="ctr">
              <a:lnSpc>
                <a:spcPts val="5039"/>
              </a:lnSpc>
            </a:pPr>
            <a:r>
              <a:rPr lang="en-US" sz="3599">
                <a:solidFill>
                  <a:srgbClr val="292B2D"/>
                </a:solidFill>
                <a:latin typeface="Object Sans"/>
                <a:ea typeface="Object Sans"/>
                <a:cs typeface="Object Sans"/>
                <a:sym typeface="Object Sans"/>
              </a:rPr>
              <a:t>Table of contents</a:t>
            </a:r>
          </a:p>
        </p:txBody>
      </p:sp>
      <p:sp>
        <p:nvSpPr>
          <p:cNvPr id="4" name="TextBox 4"/>
          <p:cNvSpPr txBox="1"/>
          <p:nvPr/>
        </p:nvSpPr>
        <p:spPr>
          <a:xfrm>
            <a:off x="8174037" y="3832617"/>
            <a:ext cx="6223733" cy="905511"/>
          </a:xfrm>
          <a:prstGeom prst="rect">
            <a:avLst/>
          </a:prstGeom>
        </p:spPr>
        <p:txBody>
          <a:bodyPr lIns="0" tIns="0" rIns="0" bIns="0" rtlCol="0" anchor="t">
            <a:spAutoFit/>
          </a:bodyPr>
          <a:lstStyle/>
          <a:p>
            <a:pPr algn="just">
              <a:lnSpc>
                <a:spcPts val="3639"/>
              </a:lnSpc>
            </a:pPr>
            <a:r>
              <a:rPr lang="en-US" sz="2599">
                <a:solidFill>
                  <a:srgbClr val="292B2D"/>
                </a:solidFill>
                <a:latin typeface="Object Sans"/>
                <a:ea typeface="Object Sans"/>
                <a:cs typeface="Object Sans"/>
                <a:sym typeface="Object Sans"/>
              </a:rPr>
              <a:t>Introduce dataset, visualize errors and missing values</a:t>
            </a:r>
          </a:p>
        </p:txBody>
      </p:sp>
      <p:sp>
        <p:nvSpPr>
          <p:cNvPr id="5" name="TextBox 5"/>
          <p:cNvSpPr txBox="1"/>
          <p:nvPr/>
        </p:nvSpPr>
        <p:spPr>
          <a:xfrm>
            <a:off x="4669250" y="3880242"/>
            <a:ext cx="2472435" cy="885825"/>
          </a:xfrm>
          <a:prstGeom prst="rect">
            <a:avLst/>
          </a:prstGeom>
        </p:spPr>
        <p:txBody>
          <a:bodyPr lIns="0" tIns="0" rIns="0" bIns="0" rtlCol="0" anchor="t">
            <a:spAutoFit/>
          </a:bodyPr>
          <a:lstStyle/>
          <a:p>
            <a:pPr algn="l">
              <a:lnSpc>
                <a:spcPts val="3479"/>
              </a:lnSpc>
            </a:pPr>
            <a:r>
              <a:rPr lang="en-US" sz="2899" b="1">
                <a:solidFill>
                  <a:srgbClr val="292B2D"/>
                </a:solidFill>
                <a:latin typeface="Object Sans Bold"/>
                <a:ea typeface="Object Sans Bold"/>
                <a:cs typeface="Object Sans Bold"/>
                <a:sym typeface="Object Sans Bold"/>
              </a:rPr>
              <a:t>Data description</a:t>
            </a:r>
          </a:p>
        </p:txBody>
      </p:sp>
      <p:sp>
        <p:nvSpPr>
          <p:cNvPr id="6" name="TextBox 6"/>
          <p:cNvSpPr txBox="1"/>
          <p:nvPr/>
        </p:nvSpPr>
        <p:spPr>
          <a:xfrm>
            <a:off x="8174037" y="5193030"/>
            <a:ext cx="6223733" cy="905511"/>
          </a:xfrm>
          <a:prstGeom prst="rect">
            <a:avLst/>
          </a:prstGeom>
        </p:spPr>
        <p:txBody>
          <a:bodyPr lIns="0" tIns="0" rIns="0" bIns="0" rtlCol="0" anchor="t">
            <a:spAutoFit/>
          </a:bodyPr>
          <a:lstStyle/>
          <a:p>
            <a:pPr algn="just">
              <a:lnSpc>
                <a:spcPts val="3639"/>
              </a:lnSpc>
            </a:pPr>
            <a:r>
              <a:rPr lang="en-US" sz="2599">
                <a:solidFill>
                  <a:srgbClr val="292B2D"/>
                </a:solidFill>
                <a:latin typeface="Object Sans"/>
                <a:ea typeface="Object Sans"/>
                <a:cs typeface="Object Sans"/>
                <a:sym typeface="Object Sans"/>
              </a:rPr>
              <a:t>Handling missing values using basic and advanced techniques</a:t>
            </a:r>
          </a:p>
        </p:txBody>
      </p:sp>
      <p:sp>
        <p:nvSpPr>
          <p:cNvPr id="7" name="TextBox 7"/>
          <p:cNvSpPr txBox="1"/>
          <p:nvPr/>
        </p:nvSpPr>
        <p:spPr>
          <a:xfrm>
            <a:off x="4669250" y="5240655"/>
            <a:ext cx="3302866" cy="885825"/>
          </a:xfrm>
          <a:prstGeom prst="rect">
            <a:avLst/>
          </a:prstGeom>
        </p:spPr>
        <p:txBody>
          <a:bodyPr lIns="0" tIns="0" rIns="0" bIns="0" rtlCol="0" anchor="t">
            <a:spAutoFit/>
          </a:bodyPr>
          <a:lstStyle/>
          <a:p>
            <a:pPr algn="l">
              <a:lnSpc>
                <a:spcPts val="3479"/>
              </a:lnSpc>
            </a:pPr>
            <a:r>
              <a:rPr lang="en-US" sz="2899" b="1">
                <a:solidFill>
                  <a:srgbClr val="292B2D"/>
                </a:solidFill>
                <a:latin typeface="Object Sans Bold"/>
                <a:ea typeface="Object Sans Bold"/>
                <a:cs typeface="Object Sans Bold"/>
                <a:sym typeface="Object Sans Bold"/>
              </a:rPr>
              <a:t>Missing values handling</a:t>
            </a:r>
          </a:p>
        </p:txBody>
      </p:sp>
      <p:sp>
        <p:nvSpPr>
          <p:cNvPr id="8" name="TextBox 8"/>
          <p:cNvSpPr txBox="1"/>
          <p:nvPr/>
        </p:nvSpPr>
        <p:spPr>
          <a:xfrm>
            <a:off x="8174037" y="6167631"/>
            <a:ext cx="5268918" cy="419100"/>
          </a:xfrm>
          <a:prstGeom prst="rect">
            <a:avLst/>
          </a:prstGeom>
        </p:spPr>
        <p:txBody>
          <a:bodyPr lIns="0" tIns="0" rIns="0" bIns="0" rtlCol="0" anchor="t">
            <a:spAutoFit/>
          </a:bodyPr>
          <a:lstStyle/>
          <a:p>
            <a:pPr algn="l">
              <a:lnSpc>
                <a:spcPts val="3239"/>
              </a:lnSpc>
            </a:pPr>
            <a:r>
              <a:rPr lang="en-US" sz="2699" i="1">
                <a:solidFill>
                  <a:srgbClr val="292B2D"/>
                </a:solidFill>
                <a:latin typeface="Object Sans Italics"/>
                <a:ea typeface="Object Sans Italics"/>
                <a:cs typeface="Object Sans Italics"/>
                <a:sym typeface="Object Sans Italics"/>
              </a:rPr>
              <a:t>Drop rows with missing values</a:t>
            </a:r>
          </a:p>
        </p:txBody>
      </p:sp>
      <p:sp>
        <p:nvSpPr>
          <p:cNvPr id="9" name="TextBox 9"/>
          <p:cNvSpPr txBox="1"/>
          <p:nvPr/>
        </p:nvSpPr>
        <p:spPr>
          <a:xfrm>
            <a:off x="8174037" y="8582660"/>
            <a:ext cx="6223733" cy="448311"/>
          </a:xfrm>
          <a:prstGeom prst="rect">
            <a:avLst/>
          </a:prstGeom>
        </p:spPr>
        <p:txBody>
          <a:bodyPr lIns="0" tIns="0" rIns="0" bIns="0" rtlCol="0" anchor="t">
            <a:spAutoFit/>
          </a:bodyPr>
          <a:lstStyle/>
          <a:p>
            <a:pPr algn="just">
              <a:lnSpc>
                <a:spcPts val="3639"/>
              </a:lnSpc>
            </a:pPr>
            <a:r>
              <a:rPr lang="en-US" sz="2599">
                <a:solidFill>
                  <a:srgbClr val="292B2D"/>
                </a:solidFill>
                <a:latin typeface="Object Sans"/>
                <a:ea typeface="Object Sans"/>
                <a:cs typeface="Object Sans"/>
                <a:sym typeface="Object Sans"/>
              </a:rPr>
              <a:t>Summarize the results</a:t>
            </a:r>
          </a:p>
        </p:txBody>
      </p:sp>
      <p:sp>
        <p:nvSpPr>
          <p:cNvPr id="10" name="TextBox 10"/>
          <p:cNvSpPr txBox="1"/>
          <p:nvPr/>
        </p:nvSpPr>
        <p:spPr>
          <a:xfrm>
            <a:off x="4669250" y="8630285"/>
            <a:ext cx="2472435" cy="447675"/>
          </a:xfrm>
          <a:prstGeom prst="rect">
            <a:avLst/>
          </a:prstGeom>
        </p:spPr>
        <p:txBody>
          <a:bodyPr lIns="0" tIns="0" rIns="0" bIns="0" rtlCol="0" anchor="t">
            <a:spAutoFit/>
          </a:bodyPr>
          <a:lstStyle/>
          <a:p>
            <a:pPr algn="l">
              <a:lnSpc>
                <a:spcPts val="3479"/>
              </a:lnSpc>
            </a:pPr>
            <a:r>
              <a:rPr lang="en-US" sz="2899" b="1">
                <a:solidFill>
                  <a:srgbClr val="292B2D"/>
                </a:solidFill>
                <a:latin typeface="Object Sans Bold"/>
                <a:ea typeface="Object Sans Bold"/>
                <a:cs typeface="Object Sans Bold"/>
                <a:sym typeface="Object Sans Bold"/>
              </a:rPr>
              <a:t>Conclusion</a:t>
            </a:r>
          </a:p>
        </p:txBody>
      </p:sp>
      <p:sp>
        <p:nvSpPr>
          <p:cNvPr id="11" name="TextBox 11"/>
          <p:cNvSpPr txBox="1"/>
          <p:nvPr/>
        </p:nvSpPr>
        <p:spPr>
          <a:xfrm>
            <a:off x="8174037" y="6862956"/>
            <a:ext cx="5268918" cy="419100"/>
          </a:xfrm>
          <a:prstGeom prst="rect">
            <a:avLst/>
          </a:prstGeom>
        </p:spPr>
        <p:txBody>
          <a:bodyPr lIns="0" tIns="0" rIns="0" bIns="0" rtlCol="0" anchor="t">
            <a:spAutoFit/>
          </a:bodyPr>
          <a:lstStyle/>
          <a:p>
            <a:pPr algn="l">
              <a:lnSpc>
                <a:spcPts val="3239"/>
              </a:lnSpc>
            </a:pPr>
            <a:r>
              <a:rPr lang="en-US" sz="2699" i="1">
                <a:solidFill>
                  <a:srgbClr val="292B2D"/>
                </a:solidFill>
                <a:latin typeface="Object Sans Italics"/>
                <a:ea typeface="Object Sans Italics"/>
                <a:cs typeface="Object Sans Italics"/>
                <a:sym typeface="Object Sans Italics"/>
              </a:rPr>
              <a:t>Mean/Median Imputation </a:t>
            </a:r>
          </a:p>
        </p:txBody>
      </p:sp>
      <p:sp>
        <p:nvSpPr>
          <p:cNvPr id="12" name="TextBox 12"/>
          <p:cNvSpPr txBox="1"/>
          <p:nvPr/>
        </p:nvSpPr>
        <p:spPr>
          <a:xfrm>
            <a:off x="8174037" y="7577331"/>
            <a:ext cx="5568541" cy="828675"/>
          </a:xfrm>
          <a:prstGeom prst="rect">
            <a:avLst/>
          </a:prstGeom>
        </p:spPr>
        <p:txBody>
          <a:bodyPr lIns="0" tIns="0" rIns="0" bIns="0" rtlCol="0" anchor="t">
            <a:spAutoFit/>
          </a:bodyPr>
          <a:lstStyle/>
          <a:p>
            <a:pPr algn="l">
              <a:lnSpc>
                <a:spcPts val="3239"/>
              </a:lnSpc>
            </a:pPr>
            <a:r>
              <a:rPr lang="en-US" sz="2699" i="1">
                <a:solidFill>
                  <a:srgbClr val="292B2D"/>
                </a:solidFill>
                <a:latin typeface="Object Sans Italics"/>
                <a:ea typeface="Object Sans Italics"/>
                <a:cs typeface="Object Sans Italics"/>
                <a:sym typeface="Object Sans Italics"/>
              </a:rPr>
              <a:t>Advanced techniques (KNN, MICE)</a:t>
            </a:r>
          </a:p>
        </p:txBody>
      </p:sp>
      <p:sp>
        <p:nvSpPr>
          <p:cNvPr id="13" name="Freeform 13"/>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TextBox 2"/>
          <p:cNvSpPr txBox="1"/>
          <p:nvPr/>
        </p:nvSpPr>
        <p:spPr>
          <a:xfrm>
            <a:off x="1028700" y="1162050"/>
            <a:ext cx="8437197" cy="619124"/>
          </a:xfrm>
          <a:prstGeom prst="rect">
            <a:avLst/>
          </a:prstGeom>
        </p:spPr>
        <p:txBody>
          <a:bodyPr lIns="0" tIns="0" rIns="0" bIns="0" rtlCol="0" anchor="t">
            <a:spAutoFit/>
          </a:bodyPr>
          <a:lstStyle/>
          <a:p>
            <a:pPr algn="l">
              <a:lnSpc>
                <a:spcPts val="4499"/>
              </a:lnSpc>
            </a:pPr>
            <a:r>
              <a:rPr lang="en-US" sz="4999" b="1" spc="-249">
                <a:solidFill>
                  <a:srgbClr val="292B2D"/>
                </a:solidFill>
                <a:latin typeface="Object Sans Bold"/>
                <a:ea typeface="Object Sans Bold"/>
                <a:cs typeface="Object Sans Bold"/>
                <a:sym typeface="Object Sans Bold"/>
              </a:rPr>
              <a:t>DATASET</a:t>
            </a:r>
          </a:p>
        </p:txBody>
      </p:sp>
      <p:sp>
        <p:nvSpPr>
          <p:cNvPr id="3" name="TextBox 3"/>
          <p:cNvSpPr txBox="1"/>
          <p:nvPr/>
        </p:nvSpPr>
        <p:spPr>
          <a:xfrm>
            <a:off x="1268399" y="2894734"/>
            <a:ext cx="15381154" cy="1046390"/>
          </a:xfrm>
          <a:prstGeom prst="rect">
            <a:avLst/>
          </a:prstGeom>
        </p:spPr>
        <p:txBody>
          <a:bodyPr lIns="0" tIns="0" rIns="0" bIns="0" rtlCol="0" anchor="t">
            <a:spAutoFit/>
          </a:bodyPr>
          <a:lstStyle/>
          <a:p>
            <a:pPr algn="just">
              <a:lnSpc>
                <a:spcPts val="4274"/>
              </a:lnSpc>
            </a:pPr>
            <a:r>
              <a:rPr lang="en-US" sz="3053">
                <a:solidFill>
                  <a:srgbClr val="292B2D"/>
                </a:solidFill>
                <a:latin typeface="Object Sans"/>
                <a:ea typeface="Object Sans"/>
                <a:cs typeface="Object Sans"/>
                <a:sym typeface="Object Sans"/>
              </a:rPr>
              <a:t>In this homework, we use the </a:t>
            </a:r>
            <a:r>
              <a:rPr lang="en-US" sz="3053" b="1" u="sng">
                <a:solidFill>
                  <a:srgbClr val="292B2D"/>
                </a:solidFill>
                <a:latin typeface="Object Sans Bold"/>
                <a:ea typeface="Object Sans Bold"/>
                <a:cs typeface="Object Sans Bold"/>
                <a:sym typeface="Object Sans Bold"/>
                <a:hlinkClick r:id="rId2" tooltip="https://www.kaggle.com/datasets/ahmedmohamed2003/cafe-sales-dirty-data-for-cleaning-training"/>
              </a:rPr>
              <a:t>“Cafe Sales - Dirty Data for Cleaning Training”</a:t>
            </a:r>
            <a:r>
              <a:rPr lang="en-US" sz="3053" u="sng">
                <a:solidFill>
                  <a:srgbClr val="292B2D"/>
                </a:solidFill>
                <a:latin typeface="Object Sans"/>
                <a:ea typeface="Object Sans"/>
                <a:cs typeface="Object Sans"/>
                <a:sym typeface="Object Sans"/>
                <a:hlinkClick r:id="rId2" tooltip="https://www.kaggle.com/datasets/ahmedmohamed2003/cafe-sales-dirty-data-for-cleaning-training"/>
              </a:rPr>
              <a:t> </a:t>
            </a:r>
            <a:r>
              <a:rPr lang="en-US" sz="3053">
                <a:solidFill>
                  <a:srgbClr val="292B2D"/>
                </a:solidFill>
                <a:latin typeface="Object Sans"/>
                <a:ea typeface="Object Sans"/>
                <a:cs typeface="Object Sans"/>
                <a:sym typeface="Object Sans"/>
              </a:rPr>
              <a:t>data set from kaggle.</a:t>
            </a:r>
          </a:p>
        </p:txBody>
      </p:sp>
      <p:sp>
        <p:nvSpPr>
          <p:cNvPr id="4" name="TextBox 4"/>
          <p:cNvSpPr txBox="1"/>
          <p:nvPr/>
        </p:nvSpPr>
        <p:spPr>
          <a:xfrm>
            <a:off x="1268399" y="4301007"/>
            <a:ext cx="5678448" cy="2124075"/>
          </a:xfrm>
          <a:prstGeom prst="rect">
            <a:avLst/>
          </a:prstGeom>
        </p:spPr>
        <p:txBody>
          <a:bodyPr lIns="0" tIns="0" rIns="0" bIns="0" rtlCol="0" anchor="t">
            <a:spAutoFit/>
          </a:bodyPr>
          <a:lstStyle/>
          <a:p>
            <a:pPr algn="l">
              <a:lnSpc>
                <a:spcPts val="4200"/>
              </a:lnSpc>
              <a:spcBef>
                <a:spcPct val="0"/>
              </a:spcBef>
            </a:pPr>
            <a:r>
              <a:rPr lang="en-US" sz="3000" b="1">
                <a:solidFill>
                  <a:srgbClr val="292B2D"/>
                </a:solidFill>
                <a:latin typeface="Object Sans Bold"/>
                <a:ea typeface="Object Sans Bold"/>
                <a:cs typeface="Object Sans Bold"/>
                <a:sym typeface="Object Sans Bold"/>
              </a:rPr>
              <a:t>File Information</a:t>
            </a:r>
          </a:p>
          <a:p>
            <a:pPr algn="l">
              <a:lnSpc>
                <a:spcPts val="4200"/>
              </a:lnSpc>
              <a:spcBef>
                <a:spcPct val="0"/>
              </a:spcBef>
            </a:pPr>
            <a:r>
              <a:rPr lang="en-US" sz="3000">
                <a:solidFill>
                  <a:srgbClr val="292B2D"/>
                </a:solidFill>
                <a:latin typeface="Object Sans"/>
                <a:ea typeface="Object Sans"/>
                <a:cs typeface="Object Sans"/>
                <a:sym typeface="Object Sans"/>
              </a:rPr>
              <a:t>File Name: dirty_cafe_sales.csv</a:t>
            </a:r>
          </a:p>
          <a:p>
            <a:pPr algn="l">
              <a:lnSpc>
                <a:spcPts val="4200"/>
              </a:lnSpc>
              <a:spcBef>
                <a:spcPct val="0"/>
              </a:spcBef>
            </a:pPr>
            <a:r>
              <a:rPr lang="en-US" sz="3000">
                <a:solidFill>
                  <a:srgbClr val="292B2D"/>
                </a:solidFill>
                <a:latin typeface="Object Sans"/>
                <a:ea typeface="Object Sans"/>
                <a:cs typeface="Object Sans"/>
                <a:sym typeface="Object Sans"/>
              </a:rPr>
              <a:t>Number of Rows: 10,000</a:t>
            </a:r>
          </a:p>
          <a:p>
            <a:pPr algn="l">
              <a:lnSpc>
                <a:spcPts val="4200"/>
              </a:lnSpc>
              <a:spcBef>
                <a:spcPct val="0"/>
              </a:spcBef>
            </a:pPr>
            <a:r>
              <a:rPr lang="en-US" sz="3000">
                <a:solidFill>
                  <a:srgbClr val="292B2D"/>
                </a:solidFill>
                <a:latin typeface="Object Sans"/>
                <a:ea typeface="Object Sans"/>
                <a:cs typeface="Object Sans"/>
                <a:sym typeface="Object Sans"/>
              </a:rPr>
              <a:t>Number of Columns: 8</a:t>
            </a:r>
          </a:p>
        </p:txBody>
      </p:sp>
      <p:sp>
        <p:nvSpPr>
          <p:cNvPr id="5" name="Freeform 5"/>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TextBox 2"/>
          <p:cNvSpPr txBox="1"/>
          <p:nvPr/>
        </p:nvSpPr>
        <p:spPr>
          <a:xfrm>
            <a:off x="1028700" y="1162050"/>
            <a:ext cx="8437197" cy="619124"/>
          </a:xfrm>
          <a:prstGeom prst="rect">
            <a:avLst/>
          </a:prstGeom>
        </p:spPr>
        <p:txBody>
          <a:bodyPr lIns="0" tIns="0" rIns="0" bIns="0" rtlCol="0" anchor="t">
            <a:spAutoFit/>
          </a:bodyPr>
          <a:lstStyle/>
          <a:p>
            <a:pPr algn="l">
              <a:lnSpc>
                <a:spcPts val="4499"/>
              </a:lnSpc>
            </a:pPr>
            <a:r>
              <a:rPr lang="en-US" sz="4999" b="1" spc="-249">
                <a:solidFill>
                  <a:srgbClr val="292B2D"/>
                </a:solidFill>
                <a:latin typeface="Object Sans Bold"/>
                <a:ea typeface="Object Sans Bold"/>
                <a:cs typeface="Object Sans Bold"/>
                <a:sym typeface="Object Sans Bold"/>
              </a:rPr>
              <a:t>DATASET</a:t>
            </a:r>
          </a:p>
        </p:txBody>
      </p:sp>
      <p:sp>
        <p:nvSpPr>
          <p:cNvPr id="3" name="TextBox 3"/>
          <p:cNvSpPr txBox="1"/>
          <p:nvPr/>
        </p:nvSpPr>
        <p:spPr>
          <a:xfrm>
            <a:off x="1216024" y="2329306"/>
            <a:ext cx="15381154" cy="598080"/>
          </a:xfrm>
          <a:prstGeom prst="rect">
            <a:avLst/>
          </a:prstGeom>
        </p:spPr>
        <p:txBody>
          <a:bodyPr lIns="0" tIns="0" rIns="0" bIns="0" rtlCol="0" anchor="t">
            <a:spAutoFit/>
          </a:bodyPr>
          <a:lstStyle/>
          <a:p>
            <a:pPr algn="just">
              <a:lnSpc>
                <a:spcPts val="4834"/>
              </a:lnSpc>
            </a:pPr>
            <a:r>
              <a:rPr lang="en-US" sz="3453" b="1">
                <a:solidFill>
                  <a:srgbClr val="292B2D"/>
                </a:solidFill>
                <a:latin typeface="Object Sans Bold"/>
                <a:ea typeface="Object Sans Bold"/>
                <a:cs typeface="Object Sans Bold"/>
                <a:sym typeface="Object Sans Bold"/>
              </a:rPr>
              <a:t>Columns Descriptions:</a:t>
            </a:r>
          </a:p>
        </p:txBody>
      </p:sp>
      <p:sp>
        <p:nvSpPr>
          <p:cNvPr id="4" name="TextBox 4"/>
          <p:cNvSpPr txBox="1"/>
          <p:nvPr/>
        </p:nvSpPr>
        <p:spPr>
          <a:xfrm>
            <a:off x="1216024" y="3452022"/>
            <a:ext cx="16499747" cy="5042445"/>
          </a:xfrm>
          <a:prstGeom prst="rect">
            <a:avLst/>
          </a:prstGeom>
        </p:spPr>
        <p:txBody>
          <a:bodyPr lIns="0" tIns="0" rIns="0" bIns="0" rtlCol="0" anchor="t">
            <a:spAutoFit/>
          </a:bodyPr>
          <a:lstStyle/>
          <a:p>
            <a:pPr algn="just">
              <a:lnSpc>
                <a:spcPts val="3994"/>
              </a:lnSpc>
            </a:pPr>
            <a:r>
              <a:rPr lang="en-US" sz="2853" b="1">
                <a:solidFill>
                  <a:srgbClr val="292B2D"/>
                </a:solidFill>
                <a:latin typeface="Object Sans Bold"/>
                <a:ea typeface="Object Sans Bold"/>
                <a:cs typeface="Object Sans Bold"/>
                <a:sym typeface="Object Sans Bold"/>
              </a:rPr>
              <a:t>Transaction ID:  </a:t>
            </a:r>
            <a:r>
              <a:rPr lang="en-US" sz="2853">
                <a:solidFill>
                  <a:srgbClr val="292B2D"/>
                </a:solidFill>
                <a:latin typeface="Object Sans"/>
                <a:ea typeface="Object Sans"/>
                <a:cs typeface="Object Sans"/>
                <a:sym typeface="Object Sans"/>
              </a:rPr>
              <a:t>A unique identifier for each transaction. Always present and unique.</a:t>
            </a:r>
          </a:p>
          <a:p>
            <a:pPr algn="just">
              <a:lnSpc>
                <a:spcPts val="3994"/>
              </a:lnSpc>
            </a:pPr>
            <a:r>
              <a:rPr lang="en-US" sz="2853" b="1">
                <a:solidFill>
                  <a:srgbClr val="292B2D"/>
                </a:solidFill>
                <a:latin typeface="Object Sans Bold"/>
                <a:ea typeface="Object Sans Bold"/>
                <a:cs typeface="Object Sans Bold"/>
                <a:sym typeface="Object Sans Bold"/>
              </a:rPr>
              <a:t>Items</a:t>
            </a:r>
            <a:r>
              <a:rPr lang="en-US" sz="2853">
                <a:solidFill>
                  <a:srgbClr val="292B2D"/>
                </a:solidFill>
                <a:latin typeface="Object Sans"/>
                <a:ea typeface="Object Sans"/>
                <a:cs typeface="Object Sans"/>
                <a:sym typeface="Object Sans"/>
              </a:rPr>
              <a:t>: The name of the item purchased. May contain missing or invalid values (e.g., "ERROR").</a:t>
            </a:r>
          </a:p>
          <a:p>
            <a:pPr algn="just">
              <a:lnSpc>
                <a:spcPts val="3994"/>
              </a:lnSpc>
            </a:pPr>
            <a:r>
              <a:rPr lang="en-US" sz="2853" b="1">
                <a:solidFill>
                  <a:srgbClr val="292B2D"/>
                </a:solidFill>
                <a:latin typeface="Object Sans Bold"/>
                <a:ea typeface="Object Sans Bold"/>
                <a:cs typeface="Object Sans Bold"/>
                <a:sym typeface="Object Sans Bold"/>
              </a:rPr>
              <a:t>Quantity</a:t>
            </a:r>
            <a:r>
              <a:rPr lang="en-US" sz="2853">
                <a:solidFill>
                  <a:srgbClr val="292B2D"/>
                </a:solidFill>
                <a:latin typeface="Object Sans"/>
                <a:ea typeface="Object Sans"/>
                <a:cs typeface="Object Sans"/>
                <a:sym typeface="Object Sans"/>
              </a:rPr>
              <a:t>: The quantity of the item purchased. May contain missing or invalid values.</a:t>
            </a:r>
          </a:p>
          <a:p>
            <a:pPr algn="just">
              <a:lnSpc>
                <a:spcPts val="3994"/>
              </a:lnSpc>
            </a:pPr>
            <a:r>
              <a:rPr lang="en-US" sz="2853" b="1">
                <a:solidFill>
                  <a:srgbClr val="292B2D"/>
                </a:solidFill>
                <a:latin typeface="Object Sans Bold"/>
                <a:ea typeface="Object Sans Bold"/>
                <a:cs typeface="Object Sans Bold"/>
                <a:sym typeface="Object Sans Bold"/>
              </a:rPr>
              <a:t>Price Per Unit</a:t>
            </a:r>
            <a:r>
              <a:rPr lang="en-US" sz="2853">
                <a:solidFill>
                  <a:srgbClr val="292B2D"/>
                </a:solidFill>
                <a:latin typeface="Object Sans"/>
                <a:ea typeface="Object Sans"/>
                <a:cs typeface="Object Sans"/>
                <a:sym typeface="Object Sans"/>
              </a:rPr>
              <a:t>: The price of a single unit of the item. May contain missing or invalid values.</a:t>
            </a:r>
          </a:p>
          <a:p>
            <a:pPr algn="just">
              <a:lnSpc>
                <a:spcPts val="3994"/>
              </a:lnSpc>
            </a:pPr>
            <a:r>
              <a:rPr lang="en-US" sz="2853" b="1">
                <a:solidFill>
                  <a:srgbClr val="292B2D"/>
                </a:solidFill>
                <a:latin typeface="Object Sans Bold"/>
                <a:ea typeface="Object Sans Bold"/>
                <a:cs typeface="Object Sans Bold"/>
                <a:sym typeface="Object Sans Bold"/>
              </a:rPr>
              <a:t>Total Spent:</a:t>
            </a:r>
            <a:r>
              <a:rPr lang="en-US" sz="2853">
                <a:solidFill>
                  <a:srgbClr val="292B2D"/>
                </a:solidFill>
                <a:latin typeface="Object Sans"/>
                <a:ea typeface="Object Sans"/>
                <a:cs typeface="Object Sans"/>
                <a:sym typeface="Object Sans"/>
              </a:rPr>
              <a:t> The total amount spent on the transaction. Calculated as Quantity * Price Per Unit.</a:t>
            </a:r>
          </a:p>
          <a:p>
            <a:pPr algn="just">
              <a:lnSpc>
                <a:spcPts val="3994"/>
              </a:lnSpc>
            </a:pPr>
            <a:r>
              <a:rPr lang="en-US" sz="2853" b="1">
                <a:solidFill>
                  <a:srgbClr val="292B2D"/>
                </a:solidFill>
                <a:latin typeface="Object Sans Bold"/>
                <a:ea typeface="Object Sans Bold"/>
                <a:cs typeface="Object Sans Bold"/>
                <a:sym typeface="Object Sans Bold"/>
              </a:rPr>
              <a:t>Payment Method</a:t>
            </a:r>
            <a:r>
              <a:rPr lang="en-US" sz="2853">
                <a:solidFill>
                  <a:srgbClr val="292B2D"/>
                </a:solidFill>
                <a:latin typeface="Object Sans"/>
                <a:ea typeface="Object Sans"/>
                <a:cs typeface="Object Sans"/>
                <a:sym typeface="Object Sans"/>
              </a:rPr>
              <a:t>: The method of payment used. May contain missing or invalid values (e.g., None, "UNKNOWN").</a:t>
            </a:r>
          </a:p>
          <a:p>
            <a:pPr algn="just">
              <a:lnSpc>
                <a:spcPts val="3994"/>
              </a:lnSpc>
            </a:pPr>
            <a:r>
              <a:rPr lang="en-US" sz="2853" b="1">
                <a:solidFill>
                  <a:srgbClr val="292B2D"/>
                </a:solidFill>
                <a:latin typeface="Object Sans Bold"/>
                <a:ea typeface="Object Sans Bold"/>
                <a:cs typeface="Object Sans Bold"/>
                <a:sym typeface="Object Sans Bold"/>
              </a:rPr>
              <a:t>Location</a:t>
            </a:r>
            <a:r>
              <a:rPr lang="en-US" sz="2853">
                <a:solidFill>
                  <a:srgbClr val="292B2D"/>
                </a:solidFill>
                <a:latin typeface="Object Sans"/>
                <a:ea typeface="Object Sans"/>
                <a:cs typeface="Object Sans"/>
                <a:sym typeface="Object Sans"/>
              </a:rPr>
              <a:t>: The location where the transaction occurred. May contain missing or invalid values.</a:t>
            </a:r>
          </a:p>
          <a:p>
            <a:pPr algn="just">
              <a:lnSpc>
                <a:spcPts val="3994"/>
              </a:lnSpc>
            </a:pPr>
            <a:r>
              <a:rPr lang="en-US" sz="2853" b="1">
                <a:solidFill>
                  <a:srgbClr val="292B2D"/>
                </a:solidFill>
                <a:latin typeface="Object Sans Bold"/>
                <a:ea typeface="Object Sans Bold"/>
                <a:cs typeface="Object Sans Bold"/>
                <a:sym typeface="Object Sans Bold"/>
              </a:rPr>
              <a:t>Transaction Date</a:t>
            </a:r>
            <a:r>
              <a:rPr lang="en-US" sz="2853">
                <a:solidFill>
                  <a:srgbClr val="292B2D"/>
                </a:solidFill>
                <a:latin typeface="Object Sans"/>
                <a:ea typeface="Object Sans"/>
                <a:cs typeface="Object Sans"/>
                <a:sym typeface="Object Sans"/>
              </a:rPr>
              <a:t>: The date of the transaction. May contain missing or incorrect values.</a:t>
            </a:r>
          </a:p>
        </p:txBody>
      </p:sp>
      <p:sp>
        <p:nvSpPr>
          <p:cNvPr id="5" name="Freeform 5"/>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TextBox 2"/>
          <p:cNvSpPr txBox="1"/>
          <p:nvPr/>
        </p:nvSpPr>
        <p:spPr>
          <a:xfrm>
            <a:off x="1028700" y="1162050"/>
            <a:ext cx="8437197" cy="619124"/>
          </a:xfrm>
          <a:prstGeom prst="rect">
            <a:avLst/>
          </a:prstGeom>
        </p:spPr>
        <p:txBody>
          <a:bodyPr lIns="0" tIns="0" rIns="0" bIns="0" rtlCol="0" anchor="t">
            <a:spAutoFit/>
          </a:bodyPr>
          <a:lstStyle/>
          <a:p>
            <a:pPr algn="l">
              <a:lnSpc>
                <a:spcPts val="4499"/>
              </a:lnSpc>
            </a:pPr>
            <a:r>
              <a:rPr lang="en-US" sz="4999" b="1" spc="-249">
                <a:solidFill>
                  <a:srgbClr val="292B2D"/>
                </a:solidFill>
                <a:latin typeface="Object Sans Bold"/>
                <a:ea typeface="Object Sans Bold"/>
                <a:cs typeface="Object Sans Bold"/>
                <a:sym typeface="Object Sans Bold"/>
              </a:rPr>
              <a:t>DATASET</a:t>
            </a:r>
          </a:p>
        </p:txBody>
      </p:sp>
      <p:sp>
        <p:nvSpPr>
          <p:cNvPr id="3" name="TextBox 3"/>
          <p:cNvSpPr txBox="1"/>
          <p:nvPr/>
        </p:nvSpPr>
        <p:spPr>
          <a:xfrm>
            <a:off x="1453423" y="2329306"/>
            <a:ext cx="15381154" cy="598080"/>
          </a:xfrm>
          <a:prstGeom prst="rect">
            <a:avLst/>
          </a:prstGeom>
        </p:spPr>
        <p:txBody>
          <a:bodyPr lIns="0" tIns="0" rIns="0" bIns="0" rtlCol="0" anchor="t">
            <a:spAutoFit/>
          </a:bodyPr>
          <a:lstStyle/>
          <a:p>
            <a:pPr algn="just">
              <a:lnSpc>
                <a:spcPts val="4834"/>
              </a:lnSpc>
            </a:pPr>
            <a:r>
              <a:rPr lang="en-US" sz="3453" b="1">
                <a:solidFill>
                  <a:srgbClr val="292B2D"/>
                </a:solidFill>
                <a:latin typeface="Object Sans Bold"/>
                <a:ea typeface="Object Sans Bold"/>
                <a:cs typeface="Object Sans Bold"/>
                <a:sym typeface="Object Sans Bold"/>
              </a:rPr>
              <a:t>Data Characteristics</a:t>
            </a:r>
          </a:p>
        </p:txBody>
      </p:sp>
      <p:sp>
        <p:nvSpPr>
          <p:cNvPr id="4" name="TextBox 4"/>
          <p:cNvSpPr txBox="1"/>
          <p:nvPr/>
        </p:nvSpPr>
        <p:spPr>
          <a:xfrm>
            <a:off x="1453423" y="2583261"/>
            <a:ext cx="15636084" cy="4948554"/>
          </a:xfrm>
          <a:prstGeom prst="rect">
            <a:avLst/>
          </a:prstGeom>
        </p:spPr>
        <p:txBody>
          <a:bodyPr lIns="0" tIns="0" rIns="0" bIns="0" rtlCol="0" anchor="t">
            <a:spAutoFit/>
          </a:bodyPr>
          <a:lstStyle/>
          <a:p>
            <a:pPr algn="l">
              <a:lnSpc>
                <a:spcPts val="3920"/>
              </a:lnSpc>
              <a:spcBef>
                <a:spcPct val="0"/>
              </a:spcBef>
            </a:pPr>
            <a:endParaRPr/>
          </a:p>
          <a:p>
            <a:pPr algn="l">
              <a:lnSpc>
                <a:spcPts val="3920"/>
              </a:lnSpc>
              <a:spcBef>
                <a:spcPct val="0"/>
              </a:spcBef>
            </a:pPr>
            <a:r>
              <a:rPr lang="en-US" sz="2800" b="1">
                <a:solidFill>
                  <a:srgbClr val="292B2D"/>
                </a:solidFill>
                <a:latin typeface="Object Sans Bold"/>
                <a:ea typeface="Object Sans Bold"/>
                <a:cs typeface="Object Sans Bold"/>
                <a:sym typeface="Object Sans Bold"/>
              </a:rPr>
              <a:t>Missing Values:</a:t>
            </a:r>
          </a:p>
          <a:p>
            <a:pPr marL="604524" lvl="1" indent="-302262" algn="l">
              <a:lnSpc>
                <a:spcPts val="3920"/>
              </a:lnSpc>
              <a:buFont typeface="Arial"/>
              <a:buChar char="•"/>
            </a:pPr>
            <a:r>
              <a:rPr lang="en-US" sz="2800">
                <a:solidFill>
                  <a:srgbClr val="292B2D"/>
                </a:solidFill>
                <a:latin typeface="Object Sans"/>
                <a:ea typeface="Object Sans"/>
                <a:cs typeface="Object Sans"/>
                <a:sym typeface="Object Sans"/>
              </a:rPr>
              <a:t>Some columns (e.g., Item, Payment Method, Location) may contain missing values represented as None or empty cells.</a:t>
            </a:r>
          </a:p>
          <a:p>
            <a:pPr algn="l">
              <a:lnSpc>
                <a:spcPts val="3920"/>
              </a:lnSpc>
              <a:spcBef>
                <a:spcPct val="0"/>
              </a:spcBef>
            </a:pPr>
            <a:r>
              <a:rPr lang="en-US" sz="2800" b="1">
                <a:solidFill>
                  <a:srgbClr val="292B2D"/>
                </a:solidFill>
                <a:latin typeface="Object Sans Bold"/>
                <a:ea typeface="Object Sans Bold"/>
                <a:cs typeface="Object Sans Bold"/>
                <a:sym typeface="Object Sans Bold"/>
              </a:rPr>
              <a:t>Invalid Values:</a:t>
            </a:r>
          </a:p>
          <a:p>
            <a:pPr marL="604524" lvl="1" indent="-302262" algn="l">
              <a:lnSpc>
                <a:spcPts val="3920"/>
              </a:lnSpc>
              <a:buFont typeface="Arial"/>
              <a:buChar char="•"/>
            </a:pPr>
            <a:r>
              <a:rPr lang="en-US" sz="2800">
                <a:solidFill>
                  <a:srgbClr val="292B2D"/>
                </a:solidFill>
                <a:latin typeface="Object Sans"/>
                <a:ea typeface="Object Sans"/>
                <a:cs typeface="Object Sans"/>
                <a:sym typeface="Object Sans"/>
              </a:rPr>
              <a:t>Some rows contain invalid entries like "ERROR" or "UNKNOWN" to simulate real-world data issues</a:t>
            </a:r>
            <a:r>
              <a:rPr lang="en-US" sz="2800" b="1">
                <a:solidFill>
                  <a:srgbClr val="292B2D"/>
                </a:solidFill>
                <a:latin typeface="Object Sans Bold"/>
                <a:ea typeface="Object Sans Bold"/>
                <a:cs typeface="Object Sans Bold"/>
                <a:sym typeface="Object Sans Bold"/>
              </a:rPr>
              <a:t>.</a:t>
            </a:r>
          </a:p>
          <a:p>
            <a:pPr algn="l">
              <a:lnSpc>
                <a:spcPts val="3920"/>
              </a:lnSpc>
              <a:spcBef>
                <a:spcPct val="0"/>
              </a:spcBef>
            </a:pPr>
            <a:r>
              <a:rPr lang="en-US" sz="2800" b="1">
                <a:solidFill>
                  <a:srgbClr val="292B2D"/>
                </a:solidFill>
                <a:latin typeface="Object Sans Bold"/>
                <a:ea typeface="Object Sans Bold"/>
                <a:cs typeface="Object Sans Bold"/>
                <a:sym typeface="Object Sans Bold"/>
              </a:rPr>
              <a:t>Price Consistency:</a:t>
            </a:r>
          </a:p>
          <a:p>
            <a:pPr marL="604524" lvl="1" indent="-302262" algn="l">
              <a:lnSpc>
                <a:spcPts val="3920"/>
              </a:lnSpc>
              <a:buFont typeface="Arial"/>
              <a:buChar char="•"/>
            </a:pPr>
            <a:r>
              <a:rPr lang="en-US" sz="2800">
                <a:solidFill>
                  <a:srgbClr val="292B2D"/>
                </a:solidFill>
                <a:latin typeface="Object Sans"/>
                <a:ea typeface="Object Sans"/>
                <a:cs typeface="Object Sans"/>
                <a:sym typeface="Object Sans"/>
              </a:rPr>
              <a:t>Prices for menu items are consistent but may have missing or incorrect values introduced.</a:t>
            </a:r>
          </a:p>
        </p:txBody>
      </p:sp>
      <p:sp>
        <p:nvSpPr>
          <p:cNvPr id="5" name="Freeform 5"/>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3629366" y="3238154"/>
            <a:ext cx="11029268" cy="5863930"/>
          </a:xfrm>
          <a:custGeom>
            <a:avLst/>
            <a:gdLst/>
            <a:ahLst/>
            <a:cxnLst/>
            <a:rect l="l" t="t" r="r" b="b"/>
            <a:pathLst>
              <a:path w="11029268" h="5863930">
                <a:moveTo>
                  <a:pt x="0" y="0"/>
                </a:moveTo>
                <a:lnTo>
                  <a:pt x="11029268" y="0"/>
                </a:lnTo>
                <a:lnTo>
                  <a:pt x="11029268" y="5863930"/>
                </a:lnTo>
                <a:lnTo>
                  <a:pt x="0" y="586393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706803" y="785813"/>
            <a:ext cx="8437197" cy="619124"/>
          </a:xfrm>
          <a:prstGeom prst="rect">
            <a:avLst/>
          </a:prstGeom>
        </p:spPr>
        <p:txBody>
          <a:bodyPr lIns="0" tIns="0" rIns="0" bIns="0" rtlCol="0" anchor="t">
            <a:spAutoFit/>
          </a:bodyPr>
          <a:lstStyle/>
          <a:p>
            <a:pPr algn="l">
              <a:lnSpc>
                <a:spcPts val="4499"/>
              </a:lnSpc>
            </a:pPr>
            <a:r>
              <a:rPr lang="en-US" sz="4999" b="1" spc="-249">
                <a:solidFill>
                  <a:srgbClr val="292B2D"/>
                </a:solidFill>
                <a:latin typeface="Object Sans Bold"/>
                <a:ea typeface="Object Sans Bold"/>
                <a:cs typeface="Object Sans Bold"/>
                <a:sym typeface="Object Sans Bold"/>
              </a:rPr>
              <a:t>DATASET</a:t>
            </a:r>
          </a:p>
        </p:txBody>
      </p:sp>
      <p:sp>
        <p:nvSpPr>
          <p:cNvPr id="4" name="TextBox 4"/>
          <p:cNvSpPr txBox="1"/>
          <p:nvPr/>
        </p:nvSpPr>
        <p:spPr>
          <a:xfrm>
            <a:off x="6816802" y="2422296"/>
            <a:ext cx="4654395" cy="598080"/>
          </a:xfrm>
          <a:prstGeom prst="rect">
            <a:avLst/>
          </a:prstGeom>
        </p:spPr>
        <p:txBody>
          <a:bodyPr lIns="0" tIns="0" rIns="0" bIns="0" rtlCol="0" anchor="t">
            <a:spAutoFit/>
          </a:bodyPr>
          <a:lstStyle/>
          <a:p>
            <a:pPr algn="just">
              <a:lnSpc>
                <a:spcPts val="4834"/>
              </a:lnSpc>
            </a:pPr>
            <a:r>
              <a:rPr lang="en-US" sz="3453" b="1">
                <a:solidFill>
                  <a:srgbClr val="292B2D"/>
                </a:solidFill>
                <a:latin typeface="Object Sans Bold"/>
                <a:ea typeface="Object Sans Bold"/>
                <a:cs typeface="Object Sans Bold"/>
                <a:sym typeface="Object Sans Bold"/>
              </a:rPr>
              <a:t>Data description</a:t>
            </a:r>
          </a:p>
        </p:txBody>
      </p:sp>
      <p:sp>
        <p:nvSpPr>
          <p:cNvPr id="5" name="Freeform 5"/>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413780" y="809619"/>
            <a:ext cx="15641105" cy="9477381"/>
          </a:xfrm>
          <a:custGeom>
            <a:avLst/>
            <a:gdLst/>
            <a:ahLst/>
            <a:cxnLst/>
            <a:rect l="l" t="t" r="r" b="b"/>
            <a:pathLst>
              <a:path w="15641105" h="9477381">
                <a:moveTo>
                  <a:pt x="0" y="0"/>
                </a:moveTo>
                <a:lnTo>
                  <a:pt x="15641105" y="0"/>
                </a:lnTo>
                <a:lnTo>
                  <a:pt x="15641105" y="9477381"/>
                </a:lnTo>
                <a:lnTo>
                  <a:pt x="0" y="9477381"/>
                </a:lnTo>
                <a:lnTo>
                  <a:pt x="0" y="0"/>
                </a:lnTo>
                <a:close/>
              </a:path>
            </a:pathLst>
          </a:custGeom>
          <a:blipFill>
            <a:blip r:embed="rId2"/>
            <a:stretch>
              <a:fillRect t="-542" b="-542"/>
            </a:stretch>
          </a:blipFill>
        </p:spPr>
        <p:txBody>
          <a:bodyPr/>
          <a:lstStyle/>
          <a:p>
            <a:endParaRPr lang="en-US"/>
          </a:p>
        </p:txBody>
      </p:sp>
      <p:sp>
        <p:nvSpPr>
          <p:cNvPr id="3" name="TextBox 3"/>
          <p:cNvSpPr txBox="1"/>
          <p:nvPr/>
        </p:nvSpPr>
        <p:spPr>
          <a:xfrm>
            <a:off x="2781877" y="211539"/>
            <a:ext cx="13043844" cy="598080"/>
          </a:xfrm>
          <a:prstGeom prst="rect">
            <a:avLst/>
          </a:prstGeom>
        </p:spPr>
        <p:txBody>
          <a:bodyPr lIns="0" tIns="0" rIns="0" bIns="0" rtlCol="0" anchor="t">
            <a:spAutoFit/>
          </a:bodyPr>
          <a:lstStyle/>
          <a:p>
            <a:pPr algn="just">
              <a:lnSpc>
                <a:spcPts val="4834"/>
              </a:lnSpc>
            </a:pPr>
            <a:r>
              <a:rPr lang="en-US" sz="3453" b="1">
                <a:solidFill>
                  <a:srgbClr val="292B2D"/>
                </a:solidFill>
                <a:latin typeface="Object Sans Bold"/>
                <a:ea typeface="Object Sans Bold"/>
                <a:cs typeface="Object Sans Bold"/>
                <a:sym typeface="Object Sans Bold"/>
              </a:rPr>
              <a:t>Heatmap to show how missing values scatter in the data set</a:t>
            </a:r>
          </a:p>
        </p:txBody>
      </p:sp>
      <p:sp>
        <p:nvSpPr>
          <p:cNvPr id="4" name="Freeform 4"/>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7306369" y="2535969"/>
            <a:ext cx="10451434" cy="6332815"/>
          </a:xfrm>
          <a:custGeom>
            <a:avLst/>
            <a:gdLst/>
            <a:ahLst/>
            <a:cxnLst/>
            <a:rect l="l" t="t" r="r" b="b"/>
            <a:pathLst>
              <a:path w="10451434" h="6332815">
                <a:moveTo>
                  <a:pt x="0" y="0"/>
                </a:moveTo>
                <a:lnTo>
                  <a:pt x="10451435" y="0"/>
                </a:lnTo>
                <a:lnTo>
                  <a:pt x="10451435" y="6332815"/>
                </a:lnTo>
                <a:lnTo>
                  <a:pt x="0" y="6332815"/>
                </a:lnTo>
                <a:lnTo>
                  <a:pt x="0" y="0"/>
                </a:lnTo>
                <a:close/>
              </a:path>
            </a:pathLst>
          </a:custGeom>
          <a:blipFill>
            <a:blip r:embed="rId2"/>
            <a:stretch>
              <a:fillRect t="-542" b="-542"/>
            </a:stretch>
          </a:blipFill>
        </p:spPr>
        <p:txBody>
          <a:bodyPr/>
          <a:lstStyle/>
          <a:p>
            <a:endParaRPr lang="en-US"/>
          </a:p>
        </p:txBody>
      </p:sp>
      <p:sp>
        <p:nvSpPr>
          <p:cNvPr id="3" name="TextBox 3"/>
          <p:cNvSpPr txBox="1"/>
          <p:nvPr/>
        </p:nvSpPr>
        <p:spPr>
          <a:xfrm>
            <a:off x="2781877" y="211539"/>
            <a:ext cx="13043844" cy="598080"/>
          </a:xfrm>
          <a:prstGeom prst="rect">
            <a:avLst/>
          </a:prstGeom>
        </p:spPr>
        <p:txBody>
          <a:bodyPr lIns="0" tIns="0" rIns="0" bIns="0" rtlCol="0" anchor="t">
            <a:spAutoFit/>
          </a:bodyPr>
          <a:lstStyle/>
          <a:p>
            <a:pPr algn="just">
              <a:lnSpc>
                <a:spcPts val="4834"/>
              </a:lnSpc>
            </a:pPr>
            <a:r>
              <a:rPr lang="en-US" sz="3453" b="1">
                <a:solidFill>
                  <a:srgbClr val="292B2D"/>
                </a:solidFill>
                <a:latin typeface="Object Sans Bold"/>
                <a:ea typeface="Object Sans Bold"/>
                <a:cs typeface="Object Sans Bold"/>
                <a:sym typeface="Object Sans Bold"/>
              </a:rPr>
              <a:t>Heatmap to show how missing values scatter in the data set</a:t>
            </a:r>
          </a:p>
        </p:txBody>
      </p:sp>
      <p:sp>
        <p:nvSpPr>
          <p:cNvPr id="4" name="TextBox 4"/>
          <p:cNvSpPr txBox="1"/>
          <p:nvPr/>
        </p:nvSpPr>
        <p:spPr>
          <a:xfrm>
            <a:off x="7525786" y="2049808"/>
            <a:ext cx="1467456" cy="621368"/>
          </a:xfrm>
          <a:prstGeom prst="rect">
            <a:avLst/>
          </a:prstGeom>
        </p:spPr>
        <p:txBody>
          <a:bodyPr lIns="0" tIns="0" rIns="0" bIns="0" rtlCol="0" anchor="t">
            <a:spAutoFit/>
          </a:bodyPr>
          <a:lstStyle/>
          <a:p>
            <a:pPr algn="ctr">
              <a:lnSpc>
                <a:spcPts val="2501"/>
              </a:lnSpc>
            </a:pPr>
            <a:r>
              <a:rPr lang="en-US" sz="1786" b="1">
                <a:solidFill>
                  <a:srgbClr val="292B2D"/>
                </a:solidFill>
                <a:latin typeface="Object Sans Bold"/>
                <a:ea typeface="Object Sans Bold"/>
                <a:cs typeface="Object Sans Bold"/>
                <a:sym typeface="Object Sans Bold"/>
              </a:rPr>
              <a:t>Transaction ID</a:t>
            </a:r>
          </a:p>
        </p:txBody>
      </p:sp>
      <p:sp>
        <p:nvSpPr>
          <p:cNvPr id="5" name="TextBox 5"/>
          <p:cNvSpPr txBox="1"/>
          <p:nvPr/>
        </p:nvSpPr>
        <p:spPr>
          <a:xfrm>
            <a:off x="8864352" y="2228926"/>
            <a:ext cx="1338565" cy="307043"/>
          </a:xfrm>
          <a:prstGeom prst="rect">
            <a:avLst/>
          </a:prstGeom>
        </p:spPr>
        <p:txBody>
          <a:bodyPr lIns="0" tIns="0" rIns="0" bIns="0" rtlCol="0" anchor="t">
            <a:spAutoFit/>
          </a:bodyPr>
          <a:lstStyle/>
          <a:p>
            <a:pPr algn="ctr">
              <a:lnSpc>
                <a:spcPts val="2501"/>
              </a:lnSpc>
            </a:pPr>
            <a:r>
              <a:rPr lang="en-US" sz="1786" b="1">
                <a:solidFill>
                  <a:srgbClr val="292B2D"/>
                </a:solidFill>
                <a:latin typeface="Object Sans Bold"/>
                <a:ea typeface="Object Sans Bold"/>
                <a:cs typeface="Object Sans Bold"/>
                <a:sym typeface="Object Sans Bold"/>
              </a:rPr>
              <a:t>item</a:t>
            </a:r>
          </a:p>
        </p:txBody>
      </p:sp>
      <p:sp>
        <p:nvSpPr>
          <p:cNvPr id="6" name="TextBox 6"/>
          <p:cNvSpPr txBox="1"/>
          <p:nvPr/>
        </p:nvSpPr>
        <p:spPr>
          <a:xfrm>
            <a:off x="10202917" y="2206970"/>
            <a:ext cx="1338565" cy="307043"/>
          </a:xfrm>
          <a:prstGeom prst="rect">
            <a:avLst/>
          </a:prstGeom>
        </p:spPr>
        <p:txBody>
          <a:bodyPr lIns="0" tIns="0" rIns="0" bIns="0" rtlCol="0" anchor="t">
            <a:spAutoFit/>
          </a:bodyPr>
          <a:lstStyle/>
          <a:p>
            <a:pPr algn="ctr">
              <a:lnSpc>
                <a:spcPts val="2501"/>
              </a:lnSpc>
            </a:pPr>
            <a:r>
              <a:rPr lang="en-US" sz="1786" b="1">
                <a:solidFill>
                  <a:srgbClr val="292B2D"/>
                </a:solidFill>
                <a:latin typeface="Object Sans Bold"/>
                <a:ea typeface="Object Sans Bold"/>
                <a:cs typeface="Object Sans Bold"/>
                <a:sym typeface="Object Sans Bold"/>
              </a:rPr>
              <a:t>Quantity</a:t>
            </a:r>
          </a:p>
        </p:txBody>
      </p:sp>
      <p:sp>
        <p:nvSpPr>
          <p:cNvPr id="7" name="TextBox 7"/>
          <p:cNvSpPr txBox="1"/>
          <p:nvPr/>
        </p:nvSpPr>
        <p:spPr>
          <a:xfrm>
            <a:off x="11541482" y="1914601"/>
            <a:ext cx="1338565" cy="621368"/>
          </a:xfrm>
          <a:prstGeom prst="rect">
            <a:avLst/>
          </a:prstGeom>
        </p:spPr>
        <p:txBody>
          <a:bodyPr lIns="0" tIns="0" rIns="0" bIns="0" rtlCol="0" anchor="t">
            <a:spAutoFit/>
          </a:bodyPr>
          <a:lstStyle/>
          <a:p>
            <a:pPr algn="ctr">
              <a:lnSpc>
                <a:spcPts val="2501"/>
              </a:lnSpc>
            </a:pPr>
            <a:r>
              <a:rPr lang="en-US" sz="1786" b="1">
                <a:solidFill>
                  <a:srgbClr val="292B2D"/>
                </a:solidFill>
                <a:latin typeface="Object Sans Bold"/>
                <a:ea typeface="Object Sans Bold"/>
                <a:cs typeface="Object Sans Bold"/>
                <a:sym typeface="Object Sans Bold"/>
              </a:rPr>
              <a:t>Price Per Unit</a:t>
            </a:r>
          </a:p>
        </p:txBody>
      </p:sp>
      <p:sp>
        <p:nvSpPr>
          <p:cNvPr id="8" name="TextBox 8"/>
          <p:cNvSpPr txBox="1"/>
          <p:nvPr/>
        </p:nvSpPr>
        <p:spPr>
          <a:xfrm>
            <a:off x="12752551" y="1937292"/>
            <a:ext cx="1138817" cy="621368"/>
          </a:xfrm>
          <a:prstGeom prst="rect">
            <a:avLst/>
          </a:prstGeom>
        </p:spPr>
        <p:txBody>
          <a:bodyPr lIns="0" tIns="0" rIns="0" bIns="0" rtlCol="0" anchor="t">
            <a:spAutoFit/>
          </a:bodyPr>
          <a:lstStyle/>
          <a:p>
            <a:pPr algn="ctr">
              <a:lnSpc>
                <a:spcPts val="2501"/>
              </a:lnSpc>
            </a:pPr>
            <a:r>
              <a:rPr lang="en-US" sz="1786" b="1">
                <a:solidFill>
                  <a:srgbClr val="292B2D"/>
                </a:solidFill>
                <a:latin typeface="Object Sans Bold"/>
                <a:ea typeface="Object Sans Bold"/>
                <a:cs typeface="Object Sans Bold"/>
                <a:sym typeface="Object Sans Bold"/>
              </a:rPr>
              <a:t>Total Spent</a:t>
            </a:r>
          </a:p>
        </p:txBody>
      </p:sp>
      <p:sp>
        <p:nvSpPr>
          <p:cNvPr id="9" name="TextBox 9"/>
          <p:cNvSpPr txBox="1"/>
          <p:nvPr/>
        </p:nvSpPr>
        <p:spPr>
          <a:xfrm>
            <a:off x="13891367" y="1914601"/>
            <a:ext cx="1138817" cy="621368"/>
          </a:xfrm>
          <a:prstGeom prst="rect">
            <a:avLst/>
          </a:prstGeom>
        </p:spPr>
        <p:txBody>
          <a:bodyPr lIns="0" tIns="0" rIns="0" bIns="0" rtlCol="0" anchor="t">
            <a:spAutoFit/>
          </a:bodyPr>
          <a:lstStyle/>
          <a:p>
            <a:pPr algn="ctr">
              <a:lnSpc>
                <a:spcPts val="2501"/>
              </a:lnSpc>
            </a:pPr>
            <a:r>
              <a:rPr lang="en-US" sz="1786" b="1">
                <a:solidFill>
                  <a:srgbClr val="292B2D"/>
                </a:solidFill>
                <a:latin typeface="Object Sans Bold"/>
                <a:ea typeface="Object Sans Bold"/>
                <a:cs typeface="Object Sans Bold"/>
                <a:sym typeface="Object Sans Bold"/>
              </a:rPr>
              <a:t>Payment Method</a:t>
            </a:r>
          </a:p>
        </p:txBody>
      </p:sp>
      <p:sp>
        <p:nvSpPr>
          <p:cNvPr id="10" name="TextBox 10"/>
          <p:cNvSpPr txBox="1"/>
          <p:nvPr/>
        </p:nvSpPr>
        <p:spPr>
          <a:xfrm>
            <a:off x="15242260" y="2094454"/>
            <a:ext cx="1138817" cy="307043"/>
          </a:xfrm>
          <a:prstGeom prst="rect">
            <a:avLst/>
          </a:prstGeom>
        </p:spPr>
        <p:txBody>
          <a:bodyPr lIns="0" tIns="0" rIns="0" bIns="0" rtlCol="0" anchor="t">
            <a:spAutoFit/>
          </a:bodyPr>
          <a:lstStyle/>
          <a:p>
            <a:pPr algn="ctr">
              <a:lnSpc>
                <a:spcPts val="2501"/>
              </a:lnSpc>
            </a:pPr>
            <a:r>
              <a:rPr lang="en-US" sz="1786" b="1">
                <a:solidFill>
                  <a:srgbClr val="292B2D"/>
                </a:solidFill>
                <a:latin typeface="Object Sans Bold"/>
                <a:ea typeface="Object Sans Bold"/>
                <a:cs typeface="Object Sans Bold"/>
                <a:sym typeface="Object Sans Bold"/>
              </a:rPr>
              <a:t>Location</a:t>
            </a:r>
          </a:p>
        </p:txBody>
      </p:sp>
      <p:sp>
        <p:nvSpPr>
          <p:cNvPr id="11" name="TextBox 11"/>
          <p:cNvSpPr txBox="1"/>
          <p:nvPr/>
        </p:nvSpPr>
        <p:spPr>
          <a:xfrm>
            <a:off x="16410243" y="1914601"/>
            <a:ext cx="1347560" cy="621368"/>
          </a:xfrm>
          <a:prstGeom prst="rect">
            <a:avLst/>
          </a:prstGeom>
        </p:spPr>
        <p:txBody>
          <a:bodyPr lIns="0" tIns="0" rIns="0" bIns="0" rtlCol="0" anchor="t">
            <a:spAutoFit/>
          </a:bodyPr>
          <a:lstStyle/>
          <a:p>
            <a:pPr algn="ctr">
              <a:lnSpc>
                <a:spcPts val="2501"/>
              </a:lnSpc>
            </a:pPr>
            <a:r>
              <a:rPr lang="en-US" sz="1786" b="1">
                <a:solidFill>
                  <a:srgbClr val="292B2D"/>
                </a:solidFill>
                <a:latin typeface="Object Sans Bold"/>
                <a:ea typeface="Object Sans Bold"/>
                <a:cs typeface="Object Sans Bold"/>
                <a:sym typeface="Object Sans Bold"/>
              </a:rPr>
              <a:t>Transaction date</a:t>
            </a:r>
          </a:p>
        </p:txBody>
      </p:sp>
      <p:sp>
        <p:nvSpPr>
          <p:cNvPr id="12" name="TextBox 12"/>
          <p:cNvSpPr txBox="1"/>
          <p:nvPr/>
        </p:nvSpPr>
        <p:spPr>
          <a:xfrm>
            <a:off x="1028700" y="2995433"/>
            <a:ext cx="4988463" cy="4948555"/>
          </a:xfrm>
          <a:prstGeom prst="rect">
            <a:avLst/>
          </a:prstGeom>
        </p:spPr>
        <p:txBody>
          <a:bodyPr lIns="0" tIns="0" rIns="0" bIns="0" rtlCol="0" anchor="t">
            <a:spAutoFit/>
          </a:bodyPr>
          <a:lstStyle/>
          <a:p>
            <a:pPr marL="604518" lvl="1" indent="-302259" algn="l">
              <a:lnSpc>
                <a:spcPts val="3919"/>
              </a:lnSpc>
              <a:buFont typeface="Arial"/>
              <a:buChar char="•"/>
            </a:pPr>
            <a:r>
              <a:rPr lang="en-US" sz="2799">
                <a:solidFill>
                  <a:srgbClr val="292B2D"/>
                </a:solidFill>
                <a:latin typeface="Object Sans"/>
                <a:ea typeface="Object Sans"/>
                <a:cs typeface="Object Sans"/>
                <a:sym typeface="Object Sans"/>
              </a:rPr>
              <a:t>Missing values appear in every columns except Transaction ID, because this column is key.</a:t>
            </a:r>
          </a:p>
          <a:p>
            <a:pPr marL="604518" lvl="1" indent="-302259" algn="l">
              <a:lnSpc>
                <a:spcPts val="3919"/>
              </a:lnSpc>
              <a:buFont typeface="Arial"/>
              <a:buChar char="•"/>
            </a:pPr>
            <a:r>
              <a:rPr lang="en-US" sz="2799">
                <a:solidFill>
                  <a:srgbClr val="292B2D"/>
                </a:solidFill>
                <a:latin typeface="Object Sans"/>
                <a:ea typeface="Object Sans"/>
                <a:cs typeface="Object Sans"/>
                <a:sym typeface="Object Sans"/>
              </a:rPr>
              <a:t>There’re rows that miss multiple values.</a:t>
            </a:r>
          </a:p>
          <a:p>
            <a:pPr marL="604518" lvl="1" indent="-302259" algn="l">
              <a:lnSpc>
                <a:spcPts val="3919"/>
              </a:lnSpc>
              <a:buFont typeface="Arial"/>
              <a:buChar char="•"/>
            </a:pPr>
            <a:r>
              <a:rPr lang="en-US" sz="2799">
                <a:solidFill>
                  <a:srgbClr val="292B2D"/>
                </a:solidFill>
                <a:latin typeface="Object Sans"/>
                <a:ea typeface="Object Sans"/>
                <a:cs typeface="Object Sans"/>
                <a:sym typeface="Object Sans"/>
              </a:rPr>
              <a:t>Payment Method and Location miss a large number of values.</a:t>
            </a:r>
          </a:p>
          <a:p>
            <a:pPr algn="l">
              <a:lnSpc>
                <a:spcPts val="3919"/>
              </a:lnSpc>
            </a:pPr>
            <a:endParaRPr lang="en-US" sz="2799">
              <a:solidFill>
                <a:srgbClr val="292B2D"/>
              </a:solidFill>
              <a:latin typeface="Object Sans"/>
              <a:ea typeface="Object Sans"/>
              <a:cs typeface="Object Sans"/>
              <a:sym typeface="Object Sans"/>
            </a:endParaRPr>
          </a:p>
        </p:txBody>
      </p:sp>
      <p:sp>
        <p:nvSpPr>
          <p:cNvPr id="13" name="Freeform 13"/>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662633" y="-1113565"/>
            <a:ext cx="4175469" cy="4284530"/>
          </a:xfrm>
          <a:custGeom>
            <a:avLst/>
            <a:gdLst/>
            <a:ahLst/>
            <a:cxnLst/>
            <a:rect l="l" t="t" r="r" b="b"/>
            <a:pathLst>
              <a:path w="4175469" h="4284530">
                <a:moveTo>
                  <a:pt x="0" y="0"/>
                </a:moveTo>
                <a:lnTo>
                  <a:pt x="4175469" y="0"/>
                </a:lnTo>
                <a:lnTo>
                  <a:pt x="4175469"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6303146" y="1028700"/>
            <a:ext cx="11984854" cy="9258300"/>
          </a:xfrm>
          <a:custGeom>
            <a:avLst/>
            <a:gdLst/>
            <a:ahLst/>
            <a:cxnLst/>
            <a:rect l="l" t="t" r="r" b="b"/>
            <a:pathLst>
              <a:path w="11984854" h="9258300">
                <a:moveTo>
                  <a:pt x="0" y="0"/>
                </a:moveTo>
                <a:lnTo>
                  <a:pt x="11984854" y="0"/>
                </a:lnTo>
                <a:lnTo>
                  <a:pt x="11984854" y="9258300"/>
                </a:lnTo>
                <a:lnTo>
                  <a:pt x="0" y="9258300"/>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781877" y="211539"/>
            <a:ext cx="13043844" cy="598080"/>
          </a:xfrm>
          <a:prstGeom prst="rect">
            <a:avLst/>
          </a:prstGeom>
        </p:spPr>
        <p:txBody>
          <a:bodyPr lIns="0" tIns="0" rIns="0" bIns="0" rtlCol="0" anchor="t">
            <a:spAutoFit/>
          </a:bodyPr>
          <a:lstStyle/>
          <a:p>
            <a:pPr algn="just">
              <a:lnSpc>
                <a:spcPts val="4834"/>
              </a:lnSpc>
            </a:pPr>
            <a:r>
              <a:rPr lang="en-US" sz="3453" b="1">
                <a:solidFill>
                  <a:srgbClr val="292B2D"/>
                </a:solidFill>
                <a:latin typeface="Object Sans Bold"/>
                <a:ea typeface="Object Sans Bold"/>
                <a:cs typeface="Object Sans Bold"/>
                <a:sym typeface="Object Sans Bold"/>
              </a:rPr>
              <a:t>Heatmap to show how missing values scatter in the data set</a:t>
            </a:r>
          </a:p>
        </p:txBody>
      </p:sp>
      <p:sp>
        <p:nvSpPr>
          <p:cNvPr id="5" name="TextBox 5"/>
          <p:cNvSpPr txBox="1"/>
          <p:nvPr/>
        </p:nvSpPr>
        <p:spPr>
          <a:xfrm>
            <a:off x="1028700" y="1197694"/>
            <a:ext cx="4988463" cy="8227695"/>
          </a:xfrm>
          <a:prstGeom prst="rect">
            <a:avLst/>
          </a:prstGeom>
        </p:spPr>
        <p:txBody>
          <a:bodyPr lIns="0" tIns="0" rIns="0" bIns="0" rtlCol="0" anchor="t">
            <a:spAutoFit/>
          </a:bodyPr>
          <a:lstStyle/>
          <a:p>
            <a:pPr marL="604518" lvl="1" indent="-302259" algn="l">
              <a:lnSpc>
                <a:spcPts val="3919"/>
              </a:lnSpc>
              <a:buFont typeface="Arial"/>
              <a:buChar char="•"/>
            </a:pPr>
            <a:r>
              <a:rPr lang="en-US" sz="2799">
                <a:solidFill>
                  <a:srgbClr val="292B2D"/>
                </a:solidFill>
                <a:latin typeface="Object Sans"/>
                <a:ea typeface="Object Sans"/>
                <a:cs typeface="Object Sans"/>
                <a:sym typeface="Object Sans"/>
              </a:rPr>
              <a:t>As we can see, Location and Paymen Method have more than 30% samples missed --&gt; This will cause difficults for model to learn from this dataset.</a:t>
            </a:r>
          </a:p>
          <a:p>
            <a:pPr marL="604518" lvl="1" indent="-302259" algn="l">
              <a:lnSpc>
                <a:spcPts val="3919"/>
              </a:lnSpc>
              <a:buFont typeface="Arial"/>
              <a:buChar char="•"/>
            </a:pPr>
            <a:r>
              <a:rPr lang="en-US" sz="2799">
                <a:solidFill>
                  <a:srgbClr val="292B2D"/>
                </a:solidFill>
                <a:latin typeface="Object Sans"/>
                <a:ea typeface="Object Sans"/>
                <a:cs typeface="Object Sans"/>
                <a:sym typeface="Object Sans"/>
              </a:rPr>
              <a:t> Transaction Date and Transaction ID have least missing points, but these two will not be used as features.</a:t>
            </a:r>
          </a:p>
          <a:p>
            <a:pPr marL="561339" lvl="1" indent="-280669" algn="l">
              <a:lnSpc>
                <a:spcPts val="3639"/>
              </a:lnSpc>
              <a:buFont typeface="Arial"/>
              <a:buChar char="•"/>
            </a:pPr>
            <a:r>
              <a:rPr lang="en-US" sz="2599">
                <a:solidFill>
                  <a:srgbClr val="292B2D"/>
                </a:solidFill>
                <a:latin typeface="Object Sans"/>
                <a:ea typeface="Object Sans"/>
                <a:cs typeface="Object Sans"/>
                <a:sym typeface="Object Sans"/>
              </a:rPr>
              <a:t> The other columns have a moderate amount of missing data points, still allowing the application of techniques to fill them in. </a:t>
            </a: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0" y="1102027"/>
            <a:ext cx="18088251" cy="9021515"/>
          </a:xfrm>
          <a:custGeom>
            <a:avLst/>
            <a:gdLst/>
            <a:ahLst/>
            <a:cxnLst/>
            <a:rect l="l" t="t" r="r" b="b"/>
            <a:pathLst>
              <a:path w="18088251" h="9021515">
                <a:moveTo>
                  <a:pt x="0" y="0"/>
                </a:moveTo>
                <a:lnTo>
                  <a:pt x="18088251" y="0"/>
                </a:lnTo>
                <a:lnTo>
                  <a:pt x="18088251" y="9021515"/>
                </a:lnTo>
                <a:lnTo>
                  <a:pt x="0" y="9021515"/>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781877" y="211539"/>
            <a:ext cx="13043844" cy="598080"/>
          </a:xfrm>
          <a:prstGeom prst="rect">
            <a:avLst/>
          </a:prstGeom>
        </p:spPr>
        <p:txBody>
          <a:bodyPr lIns="0" tIns="0" rIns="0" bIns="0" rtlCol="0" anchor="t">
            <a:spAutoFit/>
          </a:bodyPr>
          <a:lstStyle/>
          <a:p>
            <a:pPr algn="ctr">
              <a:lnSpc>
                <a:spcPts val="4834"/>
              </a:lnSpc>
            </a:pPr>
            <a:r>
              <a:rPr lang="en-US" sz="3453" b="1">
                <a:solidFill>
                  <a:srgbClr val="292B2D"/>
                </a:solidFill>
                <a:latin typeface="Object Sans Bold"/>
                <a:ea typeface="Object Sans Bold"/>
                <a:cs typeface="Object Sans Bold"/>
                <a:sym typeface="Object Sans Bold"/>
              </a:rPr>
              <a:t>Distribution of values in each column</a:t>
            </a: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781877" y="211539"/>
            <a:ext cx="13043844" cy="598080"/>
          </a:xfrm>
          <a:prstGeom prst="rect">
            <a:avLst/>
          </a:prstGeom>
        </p:spPr>
        <p:txBody>
          <a:bodyPr lIns="0" tIns="0" rIns="0" bIns="0" rtlCol="0" anchor="t">
            <a:spAutoFit/>
          </a:bodyPr>
          <a:lstStyle/>
          <a:p>
            <a:pPr algn="ctr">
              <a:lnSpc>
                <a:spcPts val="4834"/>
              </a:lnSpc>
            </a:pPr>
            <a:r>
              <a:rPr lang="en-US" sz="3453" b="1">
                <a:solidFill>
                  <a:srgbClr val="292B2D"/>
                </a:solidFill>
                <a:latin typeface="Object Sans Bold"/>
                <a:ea typeface="Object Sans Bold"/>
                <a:cs typeface="Object Sans Bold"/>
                <a:sym typeface="Object Sans Bold"/>
              </a:rPr>
              <a:t>Distribution of values in each column</a:t>
            </a:r>
          </a:p>
        </p:txBody>
      </p:sp>
      <p:sp>
        <p:nvSpPr>
          <p:cNvPr id="4" name="TextBox 4"/>
          <p:cNvSpPr txBox="1"/>
          <p:nvPr/>
        </p:nvSpPr>
        <p:spPr>
          <a:xfrm>
            <a:off x="4132934" y="962025"/>
            <a:ext cx="10022133" cy="490855"/>
          </a:xfrm>
          <a:prstGeom prst="rect">
            <a:avLst/>
          </a:prstGeom>
        </p:spPr>
        <p:txBody>
          <a:bodyPr lIns="0" tIns="0" rIns="0" bIns="0" rtlCol="0" anchor="t">
            <a:spAutoFit/>
          </a:bodyPr>
          <a:lstStyle/>
          <a:p>
            <a:pPr algn="ctr">
              <a:lnSpc>
                <a:spcPts val="3919"/>
              </a:lnSpc>
            </a:pPr>
            <a:r>
              <a:rPr lang="en-US" sz="2799">
                <a:solidFill>
                  <a:srgbClr val="292B2D"/>
                </a:solidFill>
                <a:latin typeface="Object Sans"/>
                <a:ea typeface="Object Sans"/>
                <a:cs typeface="Object Sans"/>
                <a:sym typeface="Object Sans"/>
              </a:rPr>
              <a:t>All columns don’t have normal distribution</a:t>
            </a:r>
          </a:p>
        </p:txBody>
      </p:sp>
      <p:sp>
        <p:nvSpPr>
          <p:cNvPr id="5" name="Freeform 5"/>
          <p:cNvSpPr/>
          <p:nvPr/>
        </p:nvSpPr>
        <p:spPr>
          <a:xfrm>
            <a:off x="649501" y="1807755"/>
            <a:ext cx="17000992" cy="8479245"/>
          </a:xfrm>
          <a:custGeom>
            <a:avLst/>
            <a:gdLst/>
            <a:ahLst/>
            <a:cxnLst/>
            <a:rect l="l" t="t" r="r" b="b"/>
            <a:pathLst>
              <a:path w="17000992" h="8479245">
                <a:moveTo>
                  <a:pt x="0" y="0"/>
                </a:moveTo>
                <a:lnTo>
                  <a:pt x="17000992" y="0"/>
                </a:lnTo>
                <a:lnTo>
                  <a:pt x="17000992" y="8479245"/>
                </a:lnTo>
                <a:lnTo>
                  <a:pt x="0" y="8479245"/>
                </a:lnTo>
                <a:lnTo>
                  <a:pt x="0" y="0"/>
                </a:lnTo>
                <a:close/>
              </a:path>
            </a:pathLst>
          </a:custGeom>
          <a:blipFill>
            <a:blip r:embed="rId4"/>
            <a:stretch>
              <a:fillRect/>
            </a:stretch>
          </a:blipFill>
        </p:spPr>
        <p:txBody>
          <a:bodyPr/>
          <a:lstStyle/>
          <a:p>
            <a:endParaRPr lang="en-US"/>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3972768" y="4178046"/>
            <a:ext cx="11301259" cy="2669922"/>
          </a:xfrm>
          <a:custGeom>
            <a:avLst/>
            <a:gdLst/>
            <a:ahLst/>
            <a:cxnLst/>
            <a:rect l="l" t="t" r="r" b="b"/>
            <a:pathLst>
              <a:path w="11301259" h="2669922">
                <a:moveTo>
                  <a:pt x="0" y="0"/>
                </a:moveTo>
                <a:lnTo>
                  <a:pt x="11301259" y="0"/>
                </a:lnTo>
                <a:lnTo>
                  <a:pt x="11301259" y="2669923"/>
                </a:lnTo>
                <a:lnTo>
                  <a:pt x="0" y="2669923"/>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518914" y="612502"/>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Problem choosing</a:t>
            </a:r>
          </a:p>
        </p:txBody>
      </p:sp>
      <p:sp>
        <p:nvSpPr>
          <p:cNvPr id="5" name="TextBox 5"/>
          <p:cNvSpPr txBox="1"/>
          <p:nvPr/>
        </p:nvSpPr>
        <p:spPr>
          <a:xfrm>
            <a:off x="1935697" y="2320317"/>
            <a:ext cx="10022133" cy="1481455"/>
          </a:xfrm>
          <a:prstGeom prst="rect">
            <a:avLst/>
          </a:prstGeom>
        </p:spPr>
        <p:txBody>
          <a:bodyPr lIns="0" tIns="0" rIns="0" bIns="0" rtlCol="0" anchor="t">
            <a:spAutoFit/>
          </a:bodyPr>
          <a:lstStyle/>
          <a:p>
            <a:pPr algn="l">
              <a:lnSpc>
                <a:spcPts val="3919"/>
              </a:lnSpc>
            </a:pPr>
            <a:r>
              <a:rPr lang="en-US" sz="2799">
                <a:solidFill>
                  <a:srgbClr val="292B2D"/>
                </a:solidFill>
                <a:latin typeface="Object Sans"/>
                <a:ea typeface="Object Sans"/>
                <a:cs typeface="Object Sans"/>
                <a:sym typeface="Object Sans"/>
              </a:rPr>
              <a:t>Because there’s no problems associated with this datasets, we have to create one. In this homework, we’ll process data to train a model </a:t>
            </a:r>
            <a:r>
              <a:rPr lang="en-US" sz="2799" b="1">
                <a:solidFill>
                  <a:srgbClr val="292B2D"/>
                </a:solidFill>
                <a:latin typeface="Object Sans Bold"/>
                <a:ea typeface="Object Sans Bold"/>
                <a:cs typeface="Object Sans Bold"/>
                <a:sym typeface="Object Sans Bold"/>
              </a:rPr>
              <a:t>predicting Quantity values</a:t>
            </a:r>
          </a:p>
        </p:txBody>
      </p:sp>
      <p:sp>
        <p:nvSpPr>
          <p:cNvPr id="6" name="TextBox 6"/>
          <p:cNvSpPr txBox="1"/>
          <p:nvPr/>
        </p:nvSpPr>
        <p:spPr>
          <a:xfrm>
            <a:off x="1935697" y="7157568"/>
            <a:ext cx="10022133" cy="2472055"/>
          </a:xfrm>
          <a:prstGeom prst="rect">
            <a:avLst/>
          </a:prstGeom>
        </p:spPr>
        <p:txBody>
          <a:bodyPr lIns="0" tIns="0" rIns="0" bIns="0" rtlCol="0" anchor="t">
            <a:spAutoFit/>
          </a:bodyPr>
          <a:lstStyle/>
          <a:p>
            <a:pPr algn="l">
              <a:lnSpc>
                <a:spcPts val="3919"/>
              </a:lnSpc>
            </a:pPr>
            <a:r>
              <a:rPr lang="en-US" sz="2799">
                <a:solidFill>
                  <a:srgbClr val="292B2D"/>
                </a:solidFill>
                <a:latin typeface="Object Sans"/>
                <a:ea typeface="Object Sans"/>
                <a:cs typeface="Object Sans"/>
                <a:sym typeface="Object Sans"/>
              </a:rPr>
              <a:t>First, we have to drop columns Transaction ID and Transaction Date because these two don’t give useful information. We drop Total Spent too, cause this column has a strong relation with Quantity and Price Per Unit, which will create data leakage.</a:t>
            </a: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028700" y="1938444"/>
            <a:ext cx="10906472" cy="7520060"/>
          </a:xfrm>
          <a:custGeom>
            <a:avLst/>
            <a:gdLst/>
            <a:ahLst/>
            <a:cxnLst/>
            <a:rect l="l" t="t" r="r" b="b"/>
            <a:pathLst>
              <a:path w="10906472" h="7520060">
                <a:moveTo>
                  <a:pt x="0" y="0"/>
                </a:moveTo>
                <a:lnTo>
                  <a:pt x="10906472" y="0"/>
                </a:lnTo>
                <a:lnTo>
                  <a:pt x="10906472" y="7520061"/>
                </a:lnTo>
                <a:lnTo>
                  <a:pt x="0" y="7520061"/>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518914" y="612502"/>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Problem choosing</a:t>
            </a:r>
          </a:p>
        </p:txBody>
      </p:sp>
      <p:sp>
        <p:nvSpPr>
          <p:cNvPr id="5" name="TextBox 5"/>
          <p:cNvSpPr txBox="1"/>
          <p:nvPr/>
        </p:nvSpPr>
        <p:spPr>
          <a:xfrm>
            <a:off x="12300031" y="2420166"/>
            <a:ext cx="5487835" cy="2967355"/>
          </a:xfrm>
          <a:prstGeom prst="rect">
            <a:avLst/>
          </a:prstGeom>
        </p:spPr>
        <p:txBody>
          <a:bodyPr lIns="0" tIns="0" rIns="0" bIns="0" rtlCol="0" anchor="t">
            <a:spAutoFit/>
          </a:bodyPr>
          <a:lstStyle/>
          <a:p>
            <a:pPr algn="l">
              <a:lnSpc>
                <a:spcPts val="3919"/>
              </a:lnSpc>
            </a:pPr>
            <a:r>
              <a:rPr lang="en-US" sz="2799">
                <a:solidFill>
                  <a:srgbClr val="292B2D"/>
                </a:solidFill>
                <a:latin typeface="Object Sans"/>
                <a:ea typeface="Object Sans"/>
                <a:cs typeface="Object Sans"/>
                <a:sym typeface="Object Sans"/>
              </a:rPr>
              <a:t>After that, we split dataset into 2 sets: train and test (8:2). Test set has 2000 complete rows. Train has 8000 rows, bot missing and complete rows.</a:t>
            </a:r>
          </a:p>
          <a:p>
            <a:pPr algn="l">
              <a:lnSpc>
                <a:spcPts val="3919"/>
              </a:lnSpc>
            </a:pPr>
            <a:endParaRPr lang="en-US" sz="2799">
              <a:solidFill>
                <a:srgbClr val="292B2D"/>
              </a:solidFill>
              <a:latin typeface="Object Sans"/>
              <a:ea typeface="Object Sans"/>
              <a:cs typeface="Object Sans"/>
              <a:sym typeface="Object Sans"/>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514093" y="1393313"/>
            <a:ext cx="8583866" cy="8893687"/>
          </a:xfrm>
          <a:custGeom>
            <a:avLst/>
            <a:gdLst/>
            <a:ahLst/>
            <a:cxnLst/>
            <a:rect l="l" t="t" r="r" b="b"/>
            <a:pathLst>
              <a:path w="8583866" h="8893687">
                <a:moveTo>
                  <a:pt x="0" y="0"/>
                </a:moveTo>
                <a:lnTo>
                  <a:pt x="8583866" y="0"/>
                </a:lnTo>
                <a:lnTo>
                  <a:pt x="8583866" y="8893687"/>
                </a:lnTo>
                <a:lnTo>
                  <a:pt x="0" y="8893687"/>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1: Drop rows with missing values</a:t>
            </a:r>
          </a:p>
        </p:txBody>
      </p:sp>
      <p:sp>
        <p:nvSpPr>
          <p:cNvPr id="5" name="TextBox 5"/>
          <p:cNvSpPr txBox="1"/>
          <p:nvPr/>
        </p:nvSpPr>
        <p:spPr>
          <a:xfrm>
            <a:off x="1028700" y="1840920"/>
            <a:ext cx="5767483" cy="2472055"/>
          </a:xfrm>
          <a:prstGeom prst="rect">
            <a:avLst/>
          </a:prstGeom>
        </p:spPr>
        <p:txBody>
          <a:bodyPr lIns="0" tIns="0" rIns="0" bIns="0" rtlCol="0" anchor="t">
            <a:spAutoFit/>
          </a:bodyPr>
          <a:lstStyle/>
          <a:p>
            <a:pPr algn="l">
              <a:lnSpc>
                <a:spcPts val="3919"/>
              </a:lnSpc>
            </a:pPr>
            <a:r>
              <a:rPr lang="en-US" sz="2799">
                <a:solidFill>
                  <a:srgbClr val="292B2D"/>
                </a:solidFill>
                <a:latin typeface="Object Sans"/>
                <a:ea typeface="Object Sans"/>
                <a:cs typeface="Object Sans"/>
                <a:sym typeface="Object Sans"/>
              </a:rPr>
              <a:t>In this method, we will drop any rows that contains at least 1 missing values. This will create a complete train set to for model to learn </a:t>
            </a:r>
          </a:p>
        </p:txBody>
      </p:sp>
      <p:sp>
        <p:nvSpPr>
          <p:cNvPr id="6" name="TextBox 6"/>
          <p:cNvSpPr txBox="1"/>
          <p:nvPr/>
        </p:nvSpPr>
        <p:spPr>
          <a:xfrm>
            <a:off x="1028700" y="5076825"/>
            <a:ext cx="5767483" cy="2472055"/>
          </a:xfrm>
          <a:prstGeom prst="rect">
            <a:avLst/>
          </a:prstGeom>
        </p:spPr>
        <p:txBody>
          <a:bodyPr lIns="0" tIns="0" rIns="0" bIns="0" rtlCol="0" anchor="t">
            <a:spAutoFit/>
          </a:bodyPr>
          <a:lstStyle/>
          <a:p>
            <a:pPr algn="l">
              <a:lnSpc>
                <a:spcPts val="3919"/>
              </a:lnSpc>
            </a:pPr>
            <a:r>
              <a:rPr lang="en-US" sz="2799">
                <a:solidFill>
                  <a:srgbClr val="292B2D"/>
                </a:solidFill>
                <a:latin typeface="Object Sans"/>
                <a:ea typeface="Object Sans"/>
                <a:cs typeface="Object Sans"/>
                <a:sym typeface="Object Sans"/>
              </a:rPr>
              <a:t>However, this method will drop a lot of rows. There’re only 1389 rows left,  while test data has 2000 rows. This will cause a huge data lost.</a:t>
            </a: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8049747" y="4290132"/>
            <a:ext cx="10238253" cy="2491308"/>
          </a:xfrm>
          <a:custGeom>
            <a:avLst/>
            <a:gdLst/>
            <a:ahLst/>
            <a:cxnLst/>
            <a:rect l="l" t="t" r="r" b="b"/>
            <a:pathLst>
              <a:path w="10238253" h="2491308">
                <a:moveTo>
                  <a:pt x="0" y="0"/>
                </a:moveTo>
                <a:lnTo>
                  <a:pt x="10238253" y="0"/>
                </a:lnTo>
                <a:lnTo>
                  <a:pt x="10238253" y="2491308"/>
                </a:lnTo>
                <a:lnTo>
                  <a:pt x="0" y="2491308"/>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1: Drop rows with missing values</a:t>
            </a:r>
          </a:p>
        </p:txBody>
      </p:sp>
      <p:sp>
        <p:nvSpPr>
          <p:cNvPr id="5" name="TextBox 5"/>
          <p:cNvSpPr txBox="1"/>
          <p:nvPr/>
        </p:nvSpPr>
        <p:spPr>
          <a:xfrm>
            <a:off x="729077" y="2470308"/>
            <a:ext cx="6965976" cy="6565900"/>
          </a:xfrm>
          <a:prstGeom prst="rect">
            <a:avLst/>
          </a:prstGeom>
        </p:spPr>
        <p:txBody>
          <a:bodyPr lIns="0" tIns="0" rIns="0" bIns="0" rtlCol="0" anchor="t">
            <a:spAutoFit/>
          </a:bodyPr>
          <a:lstStyle/>
          <a:p>
            <a:pPr algn="l">
              <a:lnSpc>
                <a:spcPts val="3499"/>
              </a:lnSpc>
            </a:pPr>
            <a:r>
              <a:rPr lang="en-US" sz="2499" b="1">
                <a:solidFill>
                  <a:srgbClr val="292B2D"/>
                </a:solidFill>
                <a:latin typeface="Object Sans Bold"/>
                <a:ea typeface="Object Sans Bold"/>
                <a:cs typeface="Object Sans Bold"/>
                <a:sym typeface="Object Sans Bold"/>
              </a:rPr>
              <a:t>Result: </a:t>
            </a:r>
            <a:r>
              <a:rPr lang="en-US" sz="2499">
                <a:solidFill>
                  <a:srgbClr val="292B2D"/>
                </a:solidFill>
                <a:latin typeface="Object Sans"/>
                <a:ea typeface="Object Sans"/>
                <a:cs typeface="Object Sans"/>
                <a:sym typeface="Object Sans"/>
              </a:rPr>
              <a:t>RMSE for the Quantity column: The RMSE/mean ratio = 0.48 indicates that the model's average error accounts for 48% of the actual data, which is a very poor result. It can be seen that after removing the Total Spent column, the correlation </a:t>
            </a:r>
            <a:r>
              <a:rPr lang="en-US" sz="2499" i="1">
                <a:solidFill>
                  <a:srgbClr val="292B2D"/>
                </a:solidFill>
                <a:latin typeface="Object Sans Italics"/>
                <a:ea typeface="Object Sans Italics"/>
                <a:cs typeface="Object Sans Italics"/>
                <a:sym typeface="Object Sans Italics"/>
              </a:rPr>
              <a:t>Total Spent = Quantity * Price Per Unit</a:t>
            </a:r>
            <a:r>
              <a:rPr lang="en-US" sz="2499">
                <a:solidFill>
                  <a:srgbClr val="292B2D"/>
                </a:solidFill>
                <a:latin typeface="Object Sans"/>
                <a:ea typeface="Object Sans"/>
                <a:cs typeface="Object Sans"/>
                <a:sym typeface="Object Sans"/>
              </a:rPr>
              <a:t> no longer exists. Additionally, the data in the Quantity column does not have a normal distribution, so the linear regression model does not perform well. Removing rows with missing data results in the train set being smaller than the test set, which also increases the error rate due to the model not having enough data to learn</a:t>
            </a: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5336958" y="1933124"/>
            <a:ext cx="13272874" cy="6420753"/>
          </a:xfrm>
          <a:custGeom>
            <a:avLst/>
            <a:gdLst/>
            <a:ahLst/>
            <a:cxnLst/>
            <a:rect l="l" t="t" r="r" b="b"/>
            <a:pathLst>
              <a:path w="13272874" h="6420753">
                <a:moveTo>
                  <a:pt x="0" y="0"/>
                </a:moveTo>
                <a:lnTo>
                  <a:pt x="13272873" y="0"/>
                </a:lnTo>
                <a:lnTo>
                  <a:pt x="13272873" y="6420752"/>
                </a:lnTo>
                <a:lnTo>
                  <a:pt x="0" y="6420752"/>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2: Mean/Median Imputation</a:t>
            </a:r>
          </a:p>
        </p:txBody>
      </p:sp>
      <p:sp>
        <p:nvSpPr>
          <p:cNvPr id="5" name="TextBox 5"/>
          <p:cNvSpPr txBox="1"/>
          <p:nvPr/>
        </p:nvSpPr>
        <p:spPr>
          <a:xfrm>
            <a:off x="1028700" y="1840920"/>
            <a:ext cx="4049644" cy="2472055"/>
          </a:xfrm>
          <a:prstGeom prst="rect">
            <a:avLst/>
          </a:prstGeom>
        </p:spPr>
        <p:txBody>
          <a:bodyPr lIns="0" tIns="0" rIns="0" bIns="0" rtlCol="0" anchor="t">
            <a:spAutoFit/>
          </a:bodyPr>
          <a:lstStyle/>
          <a:p>
            <a:pPr algn="l">
              <a:lnSpc>
                <a:spcPts val="3919"/>
              </a:lnSpc>
            </a:pPr>
            <a:r>
              <a:rPr lang="en-US" sz="2799">
                <a:solidFill>
                  <a:srgbClr val="292B2D"/>
                </a:solidFill>
                <a:latin typeface="Object Sans"/>
                <a:ea typeface="Object Sans"/>
                <a:cs typeface="Object Sans"/>
                <a:sym typeface="Object Sans"/>
              </a:rPr>
              <a:t>In this method, we will not drop any rows but use mean/median values to fill in missing values.  </a:t>
            </a:r>
          </a:p>
        </p:txBody>
      </p:sp>
      <p:sp>
        <p:nvSpPr>
          <p:cNvPr id="6" name="TextBox 6"/>
          <p:cNvSpPr txBox="1"/>
          <p:nvPr/>
        </p:nvSpPr>
        <p:spPr>
          <a:xfrm>
            <a:off x="1028700" y="5076825"/>
            <a:ext cx="4049644" cy="2967355"/>
          </a:xfrm>
          <a:prstGeom prst="rect">
            <a:avLst/>
          </a:prstGeom>
        </p:spPr>
        <p:txBody>
          <a:bodyPr lIns="0" tIns="0" rIns="0" bIns="0" rtlCol="0" anchor="t">
            <a:spAutoFit/>
          </a:bodyPr>
          <a:lstStyle/>
          <a:p>
            <a:pPr algn="l">
              <a:lnSpc>
                <a:spcPts val="3919"/>
              </a:lnSpc>
            </a:pPr>
            <a:r>
              <a:rPr lang="en-US" sz="2799">
                <a:solidFill>
                  <a:srgbClr val="292B2D"/>
                </a:solidFill>
                <a:latin typeface="Object Sans"/>
                <a:ea typeface="Object Sans"/>
                <a:cs typeface="Object Sans"/>
                <a:sym typeface="Object Sans"/>
              </a:rPr>
              <a:t>But, there’re columns that have string type values. To tackle this, we use mode to fill in values of these columns.</a:t>
            </a: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6818155" y="2396068"/>
            <a:ext cx="11163501" cy="5648112"/>
          </a:xfrm>
          <a:custGeom>
            <a:avLst/>
            <a:gdLst/>
            <a:ahLst/>
            <a:cxnLst/>
            <a:rect l="l" t="t" r="r" b="b"/>
            <a:pathLst>
              <a:path w="11163501" h="5648112">
                <a:moveTo>
                  <a:pt x="0" y="0"/>
                </a:moveTo>
                <a:lnTo>
                  <a:pt x="11163501" y="0"/>
                </a:lnTo>
                <a:lnTo>
                  <a:pt x="11163501" y="5648112"/>
                </a:lnTo>
                <a:lnTo>
                  <a:pt x="0" y="5648112"/>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2: Mean/Median Imputation</a:t>
            </a:r>
          </a:p>
        </p:txBody>
      </p:sp>
      <p:sp>
        <p:nvSpPr>
          <p:cNvPr id="5" name="TextBox 5"/>
          <p:cNvSpPr txBox="1"/>
          <p:nvPr/>
        </p:nvSpPr>
        <p:spPr>
          <a:xfrm>
            <a:off x="1028700" y="2329393"/>
            <a:ext cx="4049644" cy="1481455"/>
          </a:xfrm>
          <a:prstGeom prst="rect">
            <a:avLst/>
          </a:prstGeom>
        </p:spPr>
        <p:txBody>
          <a:bodyPr lIns="0" tIns="0" rIns="0" bIns="0" rtlCol="0" anchor="t">
            <a:spAutoFit/>
          </a:bodyPr>
          <a:lstStyle/>
          <a:p>
            <a:pPr algn="l">
              <a:lnSpc>
                <a:spcPts val="3919"/>
              </a:lnSpc>
            </a:pPr>
            <a:r>
              <a:rPr lang="en-US" sz="2799">
                <a:solidFill>
                  <a:srgbClr val="292B2D"/>
                </a:solidFill>
                <a:latin typeface="Object Sans"/>
                <a:ea typeface="Object Sans"/>
                <a:cs typeface="Object Sans"/>
                <a:sym typeface="Object Sans"/>
              </a:rPr>
              <a:t>This is values we’ll fill in missing points for correspond columns</a:t>
            </a:r>
          </a:p>
        </p:txBody>
      </p:sp>
      <p:sp>
        <p:nvSpPr>
          <p:cNvPr id="6" name="TextBox 6"/>
          <p:cNvSpPr txBox="1"/>
          <p:nvPr/>
        </p:nvSpPr>
        <p:spPr>
          <a:xfrm>
            <a:off x="1181100" y="5153449"/>
            <a:ext cx="4049644" cy="986155"/>
          </a:xfrm>
          <a:prstGeom prst="rect">
            <a:avLst/>
          </a:prstGeom>
        </p:spPr>
        <p:txBody>
          <a:bodyPr lIns="0" tIns="0" rIns="0" bIns="0" rtlCol="0" anchor="t">
            <a:spAutoFit/>
          </a:bodyPr>
          <a:lstStyle/>
          <a:p>
            <a:pPr algn="l">
              <a:lnSpc>
                <a:spcPts val="3919"/>
              </a:lnSpc>
            </a:pPr>
            <a:r>
              <a:rPr lang="en-US" sz="2799">
                <a:solidFill>
                  <a:srgbClr val="292B2D"/>
                </a:solidFill>
                <a:latin typeface="Object Sans"/>
                <a:ea typeface="Object Sans"/>
                <a:cs typeface="Object Sans"/>
                <a:sym typeface="Object Sans"/>
              </a:rPr>
              <a:t>Train data after filling: No more missing value</a:t>
            </a: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7186274" y="3602830"/>
            <a:ext cx="10786811" cy="2767559"/>
          </a:xfrm>
          <a:custGeom>
            <a:avLst/>
            <a:gdLst/>
            <a:ahLst/>
            <a:cxnLst/>
            <a:rect l="l" t="t" r="r" b="b"/>
            <a:pathLst>
              <a:path w="10786811" h="2767559">
                <a:moveTo>
                  <a:pt x="0" y="0"/>
                </a:moveTo>
                <a:lnTo>
                  <a:pt x="10786811" y="0"/>
                </a:lnTo>
                <a:lnTo>
                  <a:pt x="10786811" y="2767559"/>
                </a:lnTo>
                <a:lnTo>
                  <a:pt x="0" y="2767559"/>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2: Mean/Median Imputation</a:t>
            </a:r>
          </a:p>
        </p:txBody>
      </p:sp>
      <p:sp>
        <p:nvSpPr>
          <p:cNvPr id="5" name="TextBox 5"/>
          <p:cNvSpPr txBox="1"/>
          <p:nvPr/>
        </p:nvSpPr>
        <p:spPr>
          <a:xfrm>
            <a:off x="1028700" y="2025698"/>
            <a:ext cx="5845375" cy="7425055"/>
          </a:xfrm>
          <a:prstGeom prst="rect">
            <a:avLst/>
          </a:prstGeom>
        </p:spPr>
        <p:txBody>
          <a:bodyPr lIns="0" tIns="0" rIns="0" bIns="0" rtlCol="0" anchor="t">
            <a:spAutoFit/>
          </a:bodyPr>
          <a:lstStyle/>
          <a:p>
            <a:pPr algn="l">
              <a:lnSpc>
                <a:spcPts val="3919"/>
              </a:lnSpc>
            </a:pPr>
            <a:r>
              <a:rPr lang="en-US" sz="2799" b="1">
                <a:solidFill>
                  <a:srgbClr val="292B2D"/>
                </a:solidFill>
                <a:latin typeface="Object Sans Bold"/>
                <a:ea typeface="Object Sans Bold"/>
                <a:cs typeface="Object Sans Bold"/>
                <a:sym typeface="Object Sans Bold"/>
              </a:rPr>
              <a:t>Result: </a:t>
            </a:r>
            <a:r>
              <a:rPr lang="en-US" sz="2799">
                <a:solidFill>
                  <a:srgbClr val="292B2D"/>
                </a:solidFill>
                <a:latin typeface="Object Sans"/>
                <a:ea typeface="Object Sans"/>
                <a:cs typeface="Object Sans"/>
                <a:sym typeface="Object Sans"/>
              </a:rPr>
              <a:t>In this method, the number of samples in the training set has increased, but in reality, the majority of them are values filled in using the mode/mean. These values are mostly incorrect and introduce noise into the model's learning process. Therefore, the results obtained are still not good, although there is a 1% improvement.</a:t>
            </a:r>
          </a:p>
          <a:p>
            <a:pPr algn="l">
              <a:lnSpc>
                <a:spcPts val="3919"/>
              </a:lnSpc>
            </a:pPr>
            <a:r>
              <a:rPr lang="en-US" sz="2799">
                <a:solidFill>
                  <a:srgbClr val="292B2D"/>
                </a:solidFill>
                <a:latin typeface="Object Sans"/>
                <a:ea typeface="Object Sans"/>
                <a:cs typeface="Object Sans"/>
                <a:sym typeface="Object Sans"/>
              </a:rPr>
              <a:t>The same issue occurs when replacing the Mean with the Median.</a:t>
            </a:r>
          </a:p>
          <a:p>
            <a:pPr algn="l">
              <a:lnSpc>
                <a:spcPts val="3919"/>
              </a:lnSpc>
            </a:pPr>
            <a:endParaRPr lang="en-US" sz="2799">
              <a:solidFill>
                <a:srgbClr val="292B2D"/>
              </a:solidFill>
              <a:latin typeface="Object Sans"/>
              <a:ea typeface="Object Sans"/>
              <a:cs typeface="Object Sans"/>
              <a:sym typeface="Object Sans"/>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2214978" y="3259143"/>
            <a:ext cx="14648708" cy="6939825"/>
          </a:xfrm>
          <a:custGeom>
            <a:avLst/>
            <a:gdLst/>
            <a:ahLst/>
            <a:cxnLst/>
            <a:rect l="l" t="t" r="r" b="b"/>
            <a:pathLst>
              <a:path w="14648708" h="6939825">
                <a:moveTo>
                  <a:pt x="0" y="0"/>
                </a:moveTo>
                <a:lnTo>
                  <a:pt x="14648708" y="0"/>
                </a:lnTo>
                <a:lnTo>
                  <a:pt x="14648708" y="6939826"/>
                </a:lnTo>
                <a:lnTo>
                  <a:pt x="0" y="6939826"/>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3.1: Custom KNN</a:t>
            </a:r>
          </a:p>
        </p:txBody>
      </p:sp>
      <p:sp>
        <p:nvSpPr>
          <p:cNvPr id="5" name="TextBox 5"/>
          <p:cNvSpPr txBox="1"/>
          <p:nvPr/>
        </p:nvSpPr>
        <p:spPr>
          <a:xfrm>
            <a:off x="688271" y="1439233"/>
            <a:ext cx="16911457" cy="1819910"/>
          </a:xfrm>
          <a:prstGeom prst="rect">
            <a:avLst/>
          </a:prstGeom>
        </p:spPr>
        <p:txBody>
          <a:bodyPr lIns="0" tIns="0" rIns="0" bIns="0" rtlCol="0" anchor="t">
            <a:spAutoFit/>
          </a:bodyPr>
          <a:lstStyle/>
          <a:p>
            <a:pPr algn="l">
              <a:lnSpc>
                <a:spcPts val="3639"/>
              </a:lnSpc>
            </a:pPr>
            <a:r>
              <a:rPr lang="en-US" sz="2599">
                <a:solidFill>
                  <a:srgbClr val="292B2D"/>
                </a:solidFill>
                <a:latin typeface="Object Sans"/>
                <a:ea typeface="Object Sans"/>
                <a:cs typeface="Object Sans"/>
                <a:sym typeface="Object Sans"/>
              </a:rPr>
              <a:t>Main idea: Since the data has missing values in multiple columns, and the rows may have one or more missing columns, we will extract a subset from train_data containing rows with no missing values to train a KNN model. Then, we will use this trained KNN model to predict the missing values (one column at a time) in the remaining part of train_data.</a:t>
            </a: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3770756" y="5143500"/>
            <a:ext cx="11456164" cy="2966661"/>
          </a:xfrm>
          <a:custGeom>
            <a:avLst/>
            <a:gdLst/>
            <a:ahLst/>
            <a:cxnLst/>
            <a:rect l="l" t="t" r="r" b="b"/>
            <a:pathLst>
              <a:path w="11456164" h="2966661">
                <a:moveTo>
                  <a:pt x="0" y="0"/>
                </a:moveTo>
                <a:lnTo>
                  <a:pt x="11456164" y="0"/>
                </a:lnTo>
                <a:lnTo>
                  <a:pt x="11456164" y="2966661"/>
                </a:lnTo>
                <a:lnTo>
                  <a:pt x="0" y="2966661"/>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3.1: Custom KNN</a:t>
            </a:r>
          </a:p>
        </p:txBody>
      </p:sp>
      <p:sp>
        <p:nvSpPr>
          <p:cNvPr id="5" name="TextBox 5"/>
          <p:cNvSpPr txBox="1"/>
          <p:nvPr/>
        </p:nvSpPr>
        <p:spPr>
          <a:xfrm>
            <a:off x="1028700" y="1546629"/>
            <a:ext cx="14413999" cy="2986490"/>
          </a:xfrm>
          <a:prstGeom prst="rect">
            <a:avLst/>
          </a:prstGeom>
        </p:spPr>
        <p:txBody>
          <a:bodyPr lIns="0" tIns="0" rIns="0" bIns="0" rtlCol="0" anchor="t">
            <a:spAutoFit/>
          </a:bodyPr>
          <a:lstStyle/>
          <a:p>
            <a:pPr algn="l">
              <a:lnSpc>
                <a:spcPts val="3969"/>
              </a:lnSpc>
            </a:pPr>
            <a:r>
              <a:rPr lang="en-US" sz="2835" b="1">
                <a:solidFill>
                  <a:srgbClr val="292B2D"/>
                </a:solidFill>
                <a:latin typeface="Object Sans Bold"/>
                <a:ea typeface="Object Sans Bold"/>
                <a:cs typeface="Object Sans Bold"/>
                <a:sym typeface="Object Sans Bold"/>
              </a:rPr>
              <a:t>Result: </a:t>
            </a:r>
            <a:r>
              <a:rPr lang="en-US" sz="2835">
                <a:solidFill>
                  <a:srgbClr val="292B2D"/>
                </a:solidFill>
                <a:latin typeface="Object Sans"/>
                <a:ea typeface="Object Sans"/>
                <a:cs typeface="Object Sans"/>
                <a:sym typeface="Object Sans"/>
              </a:rPr>
              <a:t>The results show that the error rate remains unchanged compared to method 1, and is even lower than method 2. Although the KNN model was trained on a complete dataset to predict missing values in the rest of the training set, during prediction, there are samples with many missing feature values, and these missing values are filled with mode/mean, so the results do not improve much compared to previous methods.</a:t>
            </a: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3.2: KNNImputer (sklearn.impute)</a:t>
            </a:r>
          </a:p>
        </p:txBody>
      </p:sp>
      <p:sp>
        <p:nvSpPr>
          <p:cNvPr id="4" name="TextBox 4"/>
          <p:cNvSpPr txBox="1"/>
          <p:nvPr/>
        </p:nvSpPr>
        <p:spPr>
          <a:xfrm>
            <a:off x="688271" y="1439233"/>
            <a:ext cx="16911457" cy="448310"/>
          </a:xfrm>
          <a:prstGeom prst="rect">
            <a:avLst/>
          </a:prstGeom>
        </p:spPr>
        <p:txBody>
          <a:bodyPr lIns="0" tIns="0" rIns="0" bIns="0" rtlCol="0" anchor="t">
            <a:spAutoFit/>
          </a:bodyPr>
          <a:lstStyle/>
          <a:p>
            <a:pPr algn="l">
              <a:lnSpc>
                <a:spcPts val="3639"/>
              </a:lnSpc>
            </a:pPr>
            <a:r>
              <a:rPr lang="en-US" sz="2599">
                <a:solidFill>
                  <a:srgbClr val="292B2D"/>
                </a:solidFill>
                <a:latin typeface="Object Sans"/>
                <a:ea typeface="Object Sans"/>
                <a:cs typeface="Object Sans"/>
                <a:sym typeface="Object Sans"/>
              </a:rPr>
              <a:t>Use KNNImputer from sklearn.impute to fill in missing points.</a:t>
            </a:r>
          </a:p>
        </p:txBody>
      </p:sp>
      <p:sp>
        <p:nvSpPr>
          <p:cNvPr id="5" name="TextBox 5"/>
          <p:cNvSpPr txBox="1"/>
          <p:nvPr/>
        </p:nvSpPr>
        <p:spPr>
          <a:xfrm>
            <a:off x="1167668" y="3121637"/>
            <a:ext cx="6184947" cy="5689600"/>
          </a:xfrm>
          <a:prstGeom prst="rect">
            <a:avLst/>
          </a:prstGeom>
        </p:spPr>
        <p:txBody>
          <a:bodyPr lIns="0" tIns="0" rIns="0" bIns="0" rtlCol="0" anchor="t">
            <a:spAutoFit/>
          </a:bodyPr>
          <a:lstStyle/>
          <a:p>
            <a:pPr algn="l">
              <a:lnSpc>
                <a:spcPts val="3499"/>
              </a:lnSpc>
            </a:pPr>
            <a:r>
              <a:rPr lang="en-US" sz="2499">
                <a:solidFill>
                  <a:srgbClr val="292B2D"/>
                </a:solidFill>
                <a:latin typeface="Object Sans"/>
                <a:ea typeface="Object Sans"/>
                <a:cs typeface="Object Sans"/>
                <a:sym typeface="Object Sans"/>
              </a:rPr>
              <a:t>Splits the training set into two parts: complete (no NaNs) and missing (containing only rows with at least one NaN). Uses the complete set to train the KNN, then uses the trained KNN model to predict the missing values in the missing set. The problem encountered is that rows in the missing set may have missing data in the features columns (occurs when the row is missing in more than two data fields). Solution: Temporarily fill the missing values in the features columns with Mean/Mode</a:t>
            </a:r>
          </a:p>
        </p:txBody>
      </p:sp>
      <p:sp>
        <p:nvSpPr>
          <p:cNvPr id="6" name="TextBox 6"/>
          <p:cNvSpPr txBox="1"/>
          <p:nvPr/>
        </p:nvSpPr>
        <p:spPr>
          <a:xfrm>
            <a:off x="8744502" y="3121637"/>
            <a:ext cx="9340978" cy="7004050"/>
          </a:xfrm>
          <a:prstGeom prst="rect">
            <a:avLst/>
          </a:prstGeom>
        </p:spPr>
        <p:txBody>
          <a:bodyPr lIns="0" tIns="0" rIns="0" bIns="0" rtlCol="0" anchor="t">
            <a:spAutoFit/>
          </a:bodyPr>
          <a:lstStyle/>
          <a:p>
            <a:pPr algn="l">
              <a:lnSpc>
                <a:spcPts val="3499"/>
              </a:lnSpc>
            </a:pPr>
            <a:r>
              <a:rPr lang="en-US" sz="2499">
                <a:solidFill>
                  <a:srgbClr val="292B2D"/>
                </a:solidFill>
                <a:latin typeface="Object Sans"/>
                <a:ea typeface="Object Sans"/>
                <a:cs typeface="Object Sans"/>
                <a:sym typeface="Object Sans"/>
              </a:rPr>
              <a:t>Uses the original training set, no temporary filling is needed. When using the fit command, KNNImputer iterates through each row in the dataset, for each missing value in a column, it finds the k nearest rows in the space for reference, then takes the average value of those k rows and fills it into the missing field in the target row. Does not encounter the problem of missing data in the features columns because KNNImputer only performs calculations with other rows that have the same non-missing data columns as the target row. For example, the target row is missing values x1, x2 and has enough values from x3 to x8, and we need to fill in x1, then KNNImputer will search for rows with value x1, missing value x2 and having enough values from x3 to x8 to calculate the Euclidean distance in space with the target row, then select the k nearest rows, take the average value of x1 and fill in the missing x1 of the target row.</a:t>
            </a:r>
          </a:p>
        </p:txBody>
      </p:sp>
      <p:sp>
        <p:nvSpPr>
          <p:cNvPr id="7" name="AutoShape 7"/>
          <p:cNvSpPr/>
          <p:nvPr/>
        </p:nvSpPr>
        <p:spPr>
          <a:xfrm>
            <a:off x="8075546" y="2599483"/>
            <a:ext cx="0" cy="7258198"/>
          </a:xfrm>
          <a:prstGeom prst="line">
            <a:avLst/>
          </a:prstGeom>
          <a:ln w="38100" cap="flat">
            <a:solidFill>
              <a:srgbClr val="000000"/>
            </a:solidFill>
            <a:prstDash val="solid"/>
            <a:headEnd type="none" w="sm" len="sm"/>
            <a:tailEnd type="none" w="sm" len="sm"/>
          </a:ln>
        </p:spPr>
        <p:txBody>
          <a:bodyPr/>
          <a:lstStyle/>
          <a:p>
            <a:endParaRPr lang="en-US"/>
          </a:p>
        </p:txBody>
      </p:sp>
      <p:sp>
        <p:nvSpPr>
          <p:cNvPr id="8" name="TextBox 8"/>
          <p:cNvSpPr txBox="1"/>
          <p:nvPr/>
        </p:nvSpPr>
        <p:spPr>
          <a:xfrm>
            <a:off x="2949103" y="2280435"/>
            <a:ext cx="2622078" cy="448310"/>
          </a:xfrm>
          <a:prstGeom prst="rect">
            <a:avLst/>
          </a:prstGeom>
        </p:spPr>
        <p:txBody>
          <a:bodyPr lIns="0" tIns="0" rIns="0" bIns="0" rtlCol="0" anchor="t">
            <a:spAutoFit/>
          </a:bodyPr>
          <a:lstStyle/>
          <a:p>
            <a:pPr algn="l">
              <a:lnSpc>
                <a:spcPts val="3639"/>
              </a:lnSpc>
            </a:pPr>
            <a:r>
              <a:rPr lang="en-US" sz="2599" b="1">
                <a:solidFill>
                  <a:srgbClr val="292B2D"/>
                </a:solidFill>
                <a:latin typeface="Object Sans Bold"/>
                <a:ea typeface="Object Sans Bold"/>
                <a:cs typeface="Object Sans Bold"/>
                <a:sym typeface="Object Sans Bold"/>
              </a:rPr>
              <a:t>Custom KNN</a:t>
            </a:r>
          </a:p>
        </p:txBody>
      </p:sp>
      <p:sp>
        <p:nvSpPr>
          <p:cNvPr id="9" name="TextBox 9"/>
          <p:cNvSpPr txBox="1"/>
          <p:nvPr/>
        </p:nvSpPr>
        <p:spPr>
          <a:xfrm>
            <a:off x="12549621" y="2084855"/>
            <a:ext cx="2622078" cy="448310"/>
          </a:xfrm>
          <a:prstGeom prst="rect">
            <a:avLst/>
          </a:prstGeom>
        </p:spPr>
        <p:txBody>
          <a:bodyPr lIns="0" tIns="0" rIns="0" bIns="0" rtlCol="0" anchor="t">
            <a:spAutoFit/>
          </a:bodyPr>
          <a:lstStyle/>
          <a:p>
            <a:pPr algn="l">
              <a:lnSpc>
                <a:spcPts val="3639"/>
              </a:lnSpc>
            </a:pPr>
            <a:r>
              <a:rPr lang="en-US" sz="2599" b="1">
                <a:solidFill>
                  <a:srgbClr val="292B2D"/>
                </a:solidFill>
                <a:latin typeface="Object Sans Bold"/>
                <a:ea typeface="Object Sans Bold"/>
                <a:cs typeface="Object Sans Bold"/>
                <a:sym typeface="Object Sans Bold"/>
              </a:rPr>
              <a:t>KNNImputer</a:t>
            </a: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a:off x="7376425" y="2533165"/>
            <a:ext cx="0" cy="7258198"/>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Freeform 4"/>
          <p:cNvSpPr/>
          <p:nvPr/>
        </p:nvSpPr>
        <p:spPr>
          <a:xfrm>
            <a:off x="7958481" y="4004355"/>
            <a:ext cx="9931208" cy="2666865"/>
          </a:xfrm>
          <a:custGeom>
            <a:avLst/>
            <a:gdLst/>
            <a:ahLst/>
            <a:cxnLst/>
            <a:rect l="l" t="t" r="r" b="b"/>
            <a:pathLst>
              <a:path w="9931208" h="2666865">
                <a:moveTo>
                  <a:pt x="0" y="0"/>
                </a:moveTo>
                <a:lnTo>
                  <a:pt x="9931209" y="0"/>
                </a:lnTo>
                <a:lnTo>
                  <a:pt x="9931209" y="2666865"/>
                </a:lnTo>
                <a:lnTo>
                  <a:pt x="0" y="2666865"/>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3.2: KNNImputer (sklearn.impute)</a:t>
            </a:r>
          </a:p>
        </p:txBody>
      </p:sp>
      <p:sp>
        <p:nvSpPr>
          <p:cNvPr id="6" name="TextBox 6"/>
          <p:cNvSpPr txBox="1"/>
          <p:nvPr/>
        </p:nvSpPr>
        <p:spPr>
          <a:xfrm>
            <a:off x="688271" y="1439233"/>
            <a:ext cx="16911457" cy="448310"/>
          </a:xfrm>
          <a:prstGeom prst="rect">
            <a:avLst/>
          </a:prstGeom>
        </p:spPr>
        <p:txBody>
          <a:bodyPr lIns="0" tIns="0" rIns="0" bIns="0" rtlCol="0" anchor="t">
            <a:spAutoFit/>
          </a:bodyPr>
          <a:lstStyle/>
          <a:p>
            <a:pPr algn="l">
              <a:lnSpc>
                <a:spcPts val="3639"/>
              </a:lnSpc>
            </a:pPr>
            <a:r>
              <a:rPr lang="en-US" sz="2599">
                <a:solidFill>
                  <a:srgbClr val="292B2D"/>
                </a:solidFill>
                <a:latin typeface="Object Sans"/>
                <a:ea typeface="Object Sans"/>
                <a:cs typeface="Object Sans"/>
                <a:sym typeface="Object Sans"/>
              </a:rPr>
              <a:t>Use KNNImputer from sklearn.impute to fill in missing points.</a:t>
            </a:r>
          </a:p>
        </p:txBody>
      </p:sp>
      <p:sp>
        <p:nvSpPr>
          <p:cNvPr id="7" name="TextBox 7"/>
          <p:cNvSpPr txBox="1"/>
          <p:nvPr/>
        </p:nvSpPr>
        <p:spPr>
          <a:xfrm>
            <a:off x="1227593" y="3261462"/>
            <a:ext cx="4527033" cy="4375150"/>
          </a:xfrm>
          <a:prstGeom prst="rect">
            <a:avLst/>
          </a:prstGeom>
        </p:spPr>
        <p:txBody>
          <a:bodyPr lIns="0" tIns="0" rIns="0" bIns="0" rtlCol="0" anchor="t">
            <a:spAutoFit/>
          </a:bodyPr>
          <a:lstStyle/>
          <a:p>
            <a:pPr algn="l">
              <a:lnSpc>
                <a:spcPts val="3499"/>
              </a:lnSpc>
            </a:pPr>
            <a:r>
              <a:rPr lang="en-US" sz="2499">
                <a:solidFill>
                  <a:srgbClr val="292B2D"/>
                </a:solidFill>
                <a:latin typeface="Object Sans"/>
                <a:ea typeface="Object Sans"/>
                <a:cs typeface="Object Sans"/>
                <a:sym typeface="Object Sans"/>
              </a:rPr>
              <a:t>The model's results remain largely unchanged. The way KNN works ignores rows with a number of missing features different from the target column, so the number of valid neighbors that the algorithm finds in this dataset is not large, which is why the results are not improved.</a:t>
            </a:r>
          </a:p>
        </p:txBody>
      </p:sp>
      <p:sp>
        <p:nvSpPr>
          <p:cNvPr id="8" name="TextBox 8"/>
          <p:cNvSpPr txBox="1"/>
          <p:nvPr/>
        </p:nvSpPr>
        <p:spPr>
          <a:xfrm>
            <a:off x="2622078" y="2699154"/>
            <a:ext cx="2622078" cy="448310"/>
          </a:xfrm>
          <a:prstGeom prst="rect">
            <a:avLst/>
          </a:prstGeom>
        </p:spPr>
        <p:txBody>
          <a:bodyPr lIns="0" tIns="0" rIns="0" bIns="0" rtlCol="0" anchor="t">
            <a:spAutoFit/>
          </a:bodyPr>
          <a:lstStyle/>
          <a:p>
            <a:pPr algn="l">
              <a:lnSpc>
                <a:spcPts val="3639"/>
              </a:lnSpc>
            </a:pPr>
            <a:r>
              <a:rPr lang="en-US" sz="2599" b="1">
                <a:solidFill>
                  <a:srgbClr val="292B2D"/>
                </a:solidFill>
                <a:latin typeface="Object Sans Bold"/>
                <a:ea typeface="Object Sans Bold"/>
                <a:cs typeface="Object Sans Bold"/>
                <a:sym typeface="Object Sans Bold"/>
              </a:rPr>
              <a:t>Result</a:t>
            </a: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3.3: MICE</a:t>
            </a:r>
          </a:p>
        </p:txBody>
      </p:sp>
      <p:sp>
        <p:nvSpPr>
          <p:cNvPr id="4" name="TextBox 4"/>
          <p:cNvSpPr txBox="1"/>
          <p:nvPr/>
        </p:nvSpPr>
        <p:spPr>
          <a:xfrm>
            <a:off x="2236624" y="2885209"/>
            <a:ext cx="14413999" cy="2966449"/>
          </a:xfrm>
          <a:prstGeom prst="rect">
            <a:avLst/>
          </a:prstGeom>
        </p:spPr>
        <p:txBody>
          <a:bodyPr lIns="0" tIns="0" rIns="0" bIns="0" rtlCol="0" anchor="t">
            <a:spAutoFit/>
          </a:bodyPr>
          <a:lstStyle/>
          <a:p>
            <a:pPr algn="ctr">
              <a:lnSpc>
                <a:spcPts val="3969"/>
              </a:lnSpc>
            </a:pPr>
            <a:r>
              <a:rPr lang="en-US" sz="2835">
                <a:solidFill>
                  <a:srgbClr val="292B2D"/>
                </a:solidFill>
                <a:latin typeface="Object Sans"/>
                <a:ea typeface="Object Sans"/>
                <a:cs typeface="Object Sans"/>
                <a:sym typeface="Object Sans"/>
              </a:rPr>
              <a:t>MICE treats each column with missing values as a dependent variable and uses the other columns as features to predict the missing values through a regression model (usually linear regression).</a:t>
            </a:r>
          </a:p>
          <a:p>
            <a:pPr algn="ctr">
              <a:lnSpc>
                <a:spcPts val="3969"/>
              </a:lnSpc>
            </a:pPr>
            <a:r>
              <a:rPr lang="en-US" sz="2835">
                <a:solidFill>
                  <a:srgbClr val="292B2D"/>
                </a:solidFill>
                <a:latin typeface="Object Sans"/>
                <a:ea typeface="Object Sans"/>
                <a:cs typeface="Object Sans"/>
                <a:sym typeface="Object Sans"/>
              </a:rPr>
              <a:t>The process is performed sequentially (chained) through each column and repeated multiple times to improve the results.</a:t>
            </a:r>
          </a:p>
          <a:p>
            <a:pPr algn="ctr">
              <a:lnSpc>
                <a:spcPts val="3969"/>
              </a:lnSpc>
            </a:pPr>
            <a:endParaRPr lang="en-US" sz="2835">
              <a:solidFill>
                <a:srgbClr val="292B2D"/>
              </a:solidFill>
              <a:latin typeface="Object Sans"/>
              <a:ea typeface="Object Sans"/>
              <a:cs typeface="Object Sans"/>
              <a:sym typeface="Object Sans"/>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a:off x="7376425" y="2533165"/>
            <a:ext cx="0" cy="7258198"/>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Freeform 4"/>
          <p:cNvSpPr/>
          <p:nvPr/>
        </p:nvSpPr>
        <p:spPr>
          <a:xfrm>
            <a:off x="7533634" y="4095389"/>
            <a:ext cx="10754366" cy="2764445"/>
          </a:xfrm>
          <a:custGeom>
            <a:avLst/>
            <a:gdLst/>
            <a:ahLst/>
            <a:cxnLst/>
            <a:rect l="l" t="t" r="r" b="b"/>
            <a:pathLst>
              <a:path w="10754366" h="2764445">
                <a:moveTo>
                  <a:pt x="0" y="0"/>
                </a:moveTo>
                <a:lnTo>
                  <a:pt x="10754366" y="0"/>
                </a:lnTo>
                <a:lnTo>
                  <a:pt x="10754366" y="2764445"/>
                </a:lnTo>
                <a:lnTo>
                  <a:pt x="0" y="2764445"/>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227593" y="3261462"/>
            <a:ext cx="4527033" cy="4813300"/>
          </a:xfrm>
          <a:prstGeom prst="rect">
            <a:avLst/>
          </a:prstGeom>
        </p:spPr>
        <p:txBody>
          <a:bodyPr lIns="0" tIns="0" rIns="0" bIns="0" rtlCol="0" anchor="t">
            <a:spAutoFit/>
          </a:bodyPr>
          <a:lstStyle/>
          <a:p>
            <a:pPr algn="l">
              <a:lnSpc>
                <a:spcPts val="3499"/>
              </a:lnSpc>
            </a:pPr>
            <a:r>
              <a:rPr lang="en-US" sz="2499">
                <a:solidFill>
                  <a:srgbClr val="292B2D"/>
                </a:solidFill>
                <a:latin typeface="Object Sans"/>
                <a:ea typeface="Object Sans"/>
                <a:cs typeface="Object Sans"/>
                <a:sym typeface="Object Sans"/>
              </a:rPr>
              <a:t>The model's error rate does not decrease; it even increases by 1% compared to KNNImputer. This demonstrates the impact of the amount of lost data. Regardless of whether complex or simple missing data resolution methods are implemented, the results do not show any difference.</a:t>
            </a:r>
          </a:p>
        </p:txBody>
      </p:sp>
      <p:sp>
        <p:nvSpPr>
          <p:cNvPr id="6" name="TextBox 6"/>
          <p:cNvSpPr txBox="1"/>
          <p:nvPr/>
        </p:nvSpPr>
        <p:spPr>
          <a:xfrm>
            <a:off x="2622078" y="2699154"/>
            <a:ext cx="2622078" cy="448310"/>
          </a:xfrm>
          <a:prstGeom prst="rect">
            <a:avLst/>
          </a:prstGeom>
        </p:spPr>
        <p:txBody>
          <a:bodyPr lIns="0" tIns="0" rIns="0" bIns="0" rtlCol="0" anchor="t">
            <a:spAutoFit/>
          </a:bodyPr>
          <a:lstStyle/>
          <a:p>
            <a:pPr algn="l">
              <a:lnSpc>
                <a:spcPts val="3639"/>
              </a:lnSpc>
            </a:pPr>
            <a:r>
              <a:rPr lang="en-US" sz="2599" b="1">
                <a:solidFill>
                  <a:srgbClr val="292B2D"/>
                </a:solidFill>
                <a:latin typeface="Object Sans Bold"/>
                <a:ea typeface="Object Sans Bold"/>
                <a:cs typeface="Object Sans Bold"/>
                <a:sym typeface="Object Sans Bold"/>
              </a:rPr>
              <a:t>Result</a:t>
            </a:r>
          </a:p>
        </p:txBody>
      </p:sp>
      <p:sp>
        <p:nvSpPr>
          <p:cNvPr id="7" name="TextBox 7"/>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Method 3.3: MICE</a:t>
            </a: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aphicFrame>
        <p:nvGraphicFramePr>
          <p:cNvPr id="3" name="Table 3"/>
          <p:cNvGraphicFramePr>
            <a:graphicFrameLocks noGrp="1"/>
          </p:cNvGraphicFramePr>
          <p:nvPr/>
        </p:nvGraphicFramePr>
        <p:xfrm>
          <a:off x="2476224" y="2212654"/>
          <a:ext cx="13335553" cy="7337637"/>
        </p:xfrm>
        <a:graphic>
          <a:graphicData uri="http://schemas.openxmlformats.org/drawingml/2006/table">
            <a:tbl>
              <a:tblPr/>
              <a:tblGrid>
                <a:gridCol w="5580337">
                  <a:extLst>
                    <a:ext uri="{9D8B030D-6E8A-4147-A177-3AD203B41FA5}">
                      <a16:colId xmlns:a16="http://schemas.microsoft.com/office/drawing/2014/main" val="20000"/>
                    </a:ext>
                  </a:extLst>
                </a:gridCol>
                <a:gridCol w="3877608">
                  <a:extLst>
                    <a:ext uri="{9D8B030D-6E8A-4147-A177-3AD203B41FA5}">
                      <a16:colId xmlns:a16="http://schemas.microsoft.com/office/drawing/2014/main" val="20001"/>
                    </a:ext>
                  </a:extLst>
                </a:gridCol>
                <a:gridCol w="3877608">
                  <a:extLst>
                    <a:ext uri="{9D8B030D-6E8A-4147-A177-3AD203B41FA5}">
                      <a16:colId xmlns:a16="http://schemas.microsoft.com/office/drawing/2014/main" val="20002"/>
                    </a:ext>
                  </a:extLst>
                </a:gridCol>
              </a:tblGrid>
              <a:tr h="1143902">
                <a:tc>
                  <a:txBody>
                    <a:bodyPr/>
                    <a:lstStyle/>
                    <a:p>
                      <a:pPr algn="ctr">
                        <a:lnSpc>
                          <a:spcPts val="419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Object Sans Bold"/>
                          <a:ea typeface="Object Sans Bold"/>
                          <a:cs typeface="Object Sans Bold"/>
                          <a:sym typeface="Object Sans Bold"/>
                        </a:rPr>
                        <a:t>RMSE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Object Sans Bold"/>
                          <a:ea typeface="Object Sans Bold"/>
                          <a:cs typeface="Object Sans Bold"/>
                          <a:sym typeface="Object Sans Bold"/>
                        </a:rPr>
                        <a:t>RMSE/mean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18127">
                <a:tc>
                  <a:txBody>
                    <a:bodyPr/>
                    <a:lstStyle/>
                    <a:p>
                      <a:pPr algn="ctr">
                        <a:lnSpc>
                          <a:spcPts val="4199"/>
                        </a:lnSpc>
                        <a:defRPr/>
                      </a:pPr>
                      <a:r>
                        <a:rPr lang="en-US" sz="2999">
                          <a:solidFill>
                            <a:srgbClr val="000000"/>
                          </a:solidFill>
                          <a:latin typeface="Object Sans"/>
                          <a:ea typeface="Object Sans"/>
                          <a:cs typeface="Object Sans"/>
                          <a:sym typeface="Object Sans"/>
                        </a:rPr>
                        <a:t>Dropping rows with missing values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1.436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0.48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43902">
                <a:tc>
                  <a:txBody>
                    <a:bodyPr/>
                    <a:lstStyle/>
                    <a:p>
                      <a:pPr algn="ctr">
                        <a:lnSpc>
                          <a:spcPts val="4199"/>
                        </a:lnSpc>
                        <a:defRPr/>
                      </a:pPr>
                      <a:r>
                        <a:rPr lang="en-US" sz="2999">
                          <a:solidFill>
                            <a:srgbClr val="000000"/>
                          </a:solidFill>
                          <a:latin typeface="Object Sans"/>
                          <a:ea typeface="Object Sans"/>
                          <a:cs typeface="Object Sans"/>
                          <a:sym typeface="Object Sans"/>
                        </a:rPr>
                        <a:t>Mean/Median Imputation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1.431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0.47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43902">
                <a:tc>
                  <a:txBody>
                    <a:bodyPr/>
                    <a:lstStyle/>
                    <a:p>
                      <a:pPr algn="ctr">
                        <a:lnSpc>
                          <a:spcPts val="4199"/>
                        </a:lnSpc>
                        <a:defRPr/>
                      </a:pPr>
                      <a:r>
                        <a:rPr lang="en-US" sz="2999">
                          <a:solidFill>
                            <a:srgbClr val="000000"/>
                          </a:solidFill>
                          <a:latin typeface="Object Sans"/>
                          <a:ea typeface="Object Sans"/>
                          <a:cs typeface="Object Sans"/>
                          <a:sym typeface="Object Sans"/>
                        </a:rPr>
                        <a:t>Custom KNN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1.439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0.48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43902">
                <a:tc>
                  <a:txBody>
                    <a:bodyPr/>
                    <a:lstStyle/>
                    <a:p>
                      <a:pPr algn="ctr">
                        <a:lnSpc>
                          <a:spcPts val="4199"/>
                        </a:lnSpc>
                        <a:defRPr/>
                      </a:pPr>
                      <a:r>
                        <a:rPr lang="en-US" sz="2999">
                          <a:solidFill>
                            <a:srgbClr val="000000"/>
                          </a:solidFill>
                          <a:latin typeface="Object Sans"/>
                          <a:ea typeface="Object Sans"/>
                          <a:cs typeface="Object Sans"/>
                          <a:sym typeface="Object Sans"/>
                        </a:rPr>
                        <a:t>KNNImputer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1.435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0.47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143902">
                <a:tc>
                  <a:txBody>
                    <a:bodyPr/>
                    <a:lstStyle/>
                    <a:p>
                      <a:pPr algn="ctr">
                        <a:lnSpc>
                          <a:spcPts val="4199"/>
                        </a:lnSpc>
                        <a:defRPr/>
                      </a:pPr>
                      <a:r>
                        <a:rPr lang="en-US" sz="2999">
                          <a:solidFill>
                            <a:srgbClr val="000000"/>
                          </a:solidFill>
                          <a:latin typeface="Object Sans"/>
                          <a:ea typeface="Object Sans"/>
                          <a:cs typeface="Object Sans"/>
                          <a:sym typeface="Object Sans"/>
                        </a:rPr>
                        <a:t>MICE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1.439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a:solidFill>
                            <a:srgbClr val="000000"/>
                          </a:solidFill>
                          <a:latin typeface="Object Sans"/>
                          <a:ea typeface="Object Sans"/>
                          <a:cs typeface="Object Sans"/>
                          <a:sym typeface="Object Sans"/>
                        </a:rPr>
                        <a:t>0.48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Box 4"/>
          <p:cNvSpPr txBox="1"/>
          <p:nvPr/>
        </p:nvSpPr>
        <p:spPr>
          <a:xfrm>
            <a:off x="2622078" y="612502"/>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Summary results</a:t>
            </a: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622078" y="393421"/>
            <a:ext cx="13043844" cy="746671"/>
          </a:xfrm>
          <a:prstGeom prst="rect">
            <a:avLst/>
          </a:prstGeom>
        </p:spPr>
        <p:txBody>
          <a:bodyPr lIns="0" tIns="0" rIns="0" bIns="0" rtlCol="0" anchor="t">
            <a:spAutoFit/>
          </a:bodyPr>
          <a:lstStyle/>
          <a:p>
            <a:pPr algn="ctr">
              <a:lnSpc>
                <a:spcPts val="6094"/>
              </a:lnSpc>
            </a:pPr>
            <a:r>
              <a:rPr lang="en-US" sz="4353" b="1">
                <a:solidFill>
                  <a:srgbClr val="292B2D"/>
                </a:solidFill>
                <a:latin typeface="Object Sans Bold"/>
                <a:ea typeface="Object Sans Bold"/>
                <a:cs typeface="Object Sans Bold"/>
                <a:sym typeface="Object Sans Bold"/>
              </a:rPr>
              <a:t>Conclusion</a:t>
            </a:r>
          </a:p>
        </p:txBody>
      </p:sp>
      <p:sp>
        <p:nvSpPr>
          <p:cNvPr id="4" name="TextBox 4"/>
          <p:cNvSpPr txBox="1"/>
          <p:nvPr/>
        </p:nvSpPr>
        <p:spPr>
          <a:xfrm>
            <a:off x="1356856" y="1504826"/>
            <a:ext cx="15902444" cy="8084585"/>
          </a:xfrm>
          <a:prstGeom prst="rect">
            <a:avLst/>
          </a:prstGeom>
        </p:spPr>
        <p:txBody>
          <a:bodyPr lIns="0" tIns="0" rIns="0" bIns="0" rtlCol="0" anchor="t">
            <a:spAutoFit/>
          </a:bodyPr>
          <a:lstStyle/>
          <a:p>
            <a:pPr marL="584925" lvl="1" indent="-292462" algn="l">
              <a:lnSpc>
                <a:spcPts val="3792"/>
              </a:lnSpc>
              <a:buFont typeface="Arial"/>
              <a:buChar char="•"/>
            </a:pPr>
            <a:r>
              <a:rPr lang="en-US" sz="2709">
                <a:solidFill>
                  <a:srgbClr val="292B2D"/>
                </a:solidFill>
                <a:latin typeface="Object Sans"/>
                <a:ea typeface="Object Sans"/>
                <a:cs typeface="Object Sans"/>
                <a:sym typeface="Object Sans"/>
              </a:rPr>
              <a:t>Among the missing data handling methods used, </a:t>
            </a:r>
            <a:r>
              <a:rPr lang="en-US" sz="2709" b="1" i="1">
                <a:solidFill>
                  <a:srgbClr val="292B2D"/>
                </a:solidFill>
                <a:latin typeface="Object Sans Bold Italics"/>
                <a:ea typeface="Object Sans Bold Italics"/>
                <a:cs typeface="Object Sans Bold Italics"/>
                <a:sym typeface="Object Sans Bold Italics"/>
              </a:rPr>
              <a:t>Custom KNN</a:t>
            </a:r>
            <a:r>
              <a:rPr lang="en-US" sz="2709">
                <a:solidFill>
                  <a:srgbClr val="292B2D"/>
                </a:solidFill>
                <a:latin typeface="Object Sans"/>
                <a:ea typeface="Object Sans"/>
                <a:cs typeface="Object Sans"/>
                <a:sym typeface="Object Sans"/>
              </a:rPr>
              <a:t> and </a:t>
            </a:r>
            <a:r>
              <a:rPr lang="en-US" sz="2709" b="1" i="1">
                <a:solidFill>
                  <a:srgbClr val="292B2D"/>
                </a:solidFill>
                <a:latin typeface="Object Sans Bold Italics"/>
                <a:ea typeface="Object Sans Bold Italics"/>
                <a:cs typeface="Object Sans Bold Italics"/>
                <a:sym typeface="Object Sans Bold Italics"/>
              </a:rPr>
              <a:t>MICE </a:t>
            </a:r>
            <a:r>
              <a:rPr lang="en-US" sz="2709">
                <a:solidFill>
                  <a:srgbClr val="292B2D"/>
                </a:solidFill>
                <a:latin typeface="Object Sans"/>
                <a:ea typeface="Object Sans"/>
                <a:cs typeface="Object Sans"/>
                <a:sym typeface="Object Sans"/>
              </a:rPr>
              <a:t>yielded the best results, though not significantly different from other methods. The primary reason is that this dataset lacks information not only in one column but also has missing data scattered across all columns (except for the Transaction ID column, which does not provide information for the machine learning model). The Location and Payment Method columns have too much missing data, making the learned information negligible, and the model's performance low. After removing the constraints between the numerical data columns, the model's learning ability significantly decreased.</a:t>
            </a:r>
          </a:p>
          <a:p>
            <a:pPr algn="l">
              <a:lnSpc>
                <a:spcPts val="3792"/>
              </a:lnSpc>
            </a:pPr>
            <a:endParaRPr lang="en-US" sz="2709">
              <a:solidFill>
                <a:srgbClr val="292B2D"/>
              </a:solidFill>
              <a:latin typeface="Object Sans"/>
              <a:ea typeface="Object Sans"/>
              <a:cs typeface="Object Sans"/>
              <a:sym typeface="Object Sans"/>
            </a:endParaRPr>
          </a:p>
          <a:p>
            <a:pPr marL="584925" lvl="1" indent="-292462" algn="l">
              <a:lnSpc>
                <a:spcPts val="3792"/>
              </a:lnSpc>
              <a:buFont typeface="Arial"/>
              <a:buChar char="•"/>
            </a:pPr>
            <a:r>
              <a:rPr lang="en-US" sz="2709">
                <a:solidFill>
                  <a:srgbClr val="292B2D"/>
                </a:solidFill>
                <a:latin typeface="Object Sans"/>
                <a:ea typeface="Object Sans"/>
                <a:cs typeface="Object Sans"/>
                <a:sym typeface="Object Sans"/>
              </a:rPr>
              <a:t>The Dropping rows with missing values method caused particularly large information loss for this dataset (losing approximately 6000/10000 samples, more than half of the samples). However, the overall results of this method are not significantly different, because the missing data is too large, concentrated in columns with no clear relationships, so even when reused with advanced methods, it cannot provide value and may even introduce noise.</a:t>
            </a:r>
          </a:p>
          <a:p>
            <a:pPr algn="l">
              <a:lnSpc>
                <a:spcPts val="3792"/>
              </a:lnSpc>
            </a:pPr>
            <a:endParaRPr lang="en-US" sz="2709">
              <a:solidFill>
                <a:srgbClr val="292B2D"/>
              </a:solidFill>
              <a:latin typeface="Object Sans"/>
              <a:ea typeface="Object Sans"/>
              <a:cs typeface="Object Sans"/>
              <a:sym typeface="Object Sans"/>
            </a:endParaRPr>
          </a:p>
          <a:p>
            <a:pPr marL="584925" lvl="1" indent="-292462" algn="l">
              <a:lnSpc>
                <a:spcPts val="3792"/>
              </a:lnSpc>
              <a:buFont typeface="Arial"/>
              <a:buChar char="•"/>
            </a:pPr>
            <a:r>
              <a:rPr lang="en-US" sz="2709">
                <a:solidFill>
                  <a:srgbClr val="292B2D"/>
                </a:solidFill>
                <a:latin typeface="Object Sans"/>
                <a:ea typeface="Object Sans"/>
                <a:cs typeface="Object Sans"/>
                <a:sym typeface="Object Sans"/>
              </a:rPr>
              <a:t>The loss of data has significantly affected the quality of information that the dataset provides.</a:t>
            </a:r>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
        <p:nvSpPr>
          <p:cNvPr id="2" name="Freeform 2"/>
          <p:cNvSpPr/>
          <p:nvPr/>
        </p:nvSpPr>
        <p:spPr>
          <a:xfrm>
            <a:off x="15562758" y="-1332646"/>
            <a:ext cx="4175469" cy="4284530"/>
          </a:xfrm>
          <a:custGeom>
            <a:avLst/>
            <a:gdLst/>
            <a:ahLst/>
            <a:cxnLst/>
            <a:rect l="l" t="t" r="r" b="b"/>
            <a:pathLst>
              <a:path w="4175469" h="4284530">
                <a:moveTo>
                  <a:pt x="0" y="0"/>
                </a:moveTo>
                <a:lnTo>
                  <a:pt x="4175470" y="0"/>
                </a:lnTo>
                <a:lnTo>
                  <a:pt x="4175470" y="4284530"/>
                </a:lnTo>
                <a:lnTo>
                  <a:pt x="0" y="42845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4821838" y="3950631"/>
            <a:ext cx="8644324" cy="1334285"/>
          </a:xfrm>
          <a:prstGeom prst="rect">
            <a:avLst/>
          </a:prstGeom>
        </p:spPr>
        <p:txBody>
          <a:bodyPr lIns="0" tIns="0" rIns="0" bIns="0" rtlCol="0" anchor="t">
            <a:spAutoFit/>
          </a:bodyPr>
          <a:lstStyle/>
          <a:p>
            <a:pPr algn="ctr">
              <a:lnSpc>
                <a:spcPts val="10898"/>
              </a:lnSpc>
            </a:pPr>
            <a:r>
              <a:rPr lang="en-US" sz="7784" b="1">
                <a:solidFill>
                  <a:srgbClr val="292B2D"/>
                </a:solidFill>
                <a:latin typeface="Object Sans Bold"/>
                <a:ea typeface="Object Sans Bold"/>
                <a:cs typeface="Object Sans Bold"/>
                <a:sym typeface="Object Sans Bold"/>
              </a:rPr>
              <a:t>The End</a:t>
            </a:r>
          </a:p>
        </p:txBody>
      </p:sp>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4F1"/>
        </a:solidFill>
        <a:effectLst/>
      </p:bgPr>
    </p:bg>
    <p:spTree>
      <p:nvGrpSpPr>
        <p:cNvPr id="1" name=""/>
        <p:cNvGrpSpPr/>
        <p:nvPr/>
      </p:nvGrpSpPr>
      <p:grpSpPr>
        <a:xfrm>
          <a:off x="0" y="0"/>
          <a:ext cx="0" cy="0"/>
          <a:chOff x="0" y="0"/>
          <a:chExt cx="0" cy="0"/>
        </a:xfrm>
      </p:grpSpPr>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1870</Words>
  <Application>Microsoft Office PowerPoint</Application>
  <PresentationFormat>Custom</PresentationFormat>
  <Paragraphs>126</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Object Sans Bold</vt:lpstr>
      <vt:lpstr>Object Sans Bold Italics</vt:lpstr>
      <vt:lpstr>Object Sans</vt:lpstr>
      <vt:lpstr>Arial</vt:lpstr>
      <vt:lpstr>Object Sans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CS338. HOMEWORK 1</dc:title>
  <cp:lastModifiedBy>Nguyễn Gia Bảo</cp:lastModifiedBy>
  <cp:revision>2</cp:revision>
  <dcterms:created xsi:type="dcterms:W3CDTF">2006-08-16T00:00:00Z</dcterms:created>
  <dcterms:modified xsi:type="dcterms:W3CDTF">2025-03-09T14:40:40Z</dcterms:modified>
  <dc:identifier>DAGgu6rw9LY</dc:identifier>
</cp:coreProperties>
</file>