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9" r:id="rId1"/>
  </p:sldMasterIdLst>
  <p:notesMasterIdLst>
    <p:notesMasterId r:id="rId20"/>
  </p:notesMasterIdLst>
  <p:sldIdLst>
    <p:sldId id="258" r:id="rId2"/>
    <p:sldId id="262" r:id="rId3"/>
    <p:sldId id="261" r:id="rId4"/>
    <p:sldId id="263" r:id="rId5"/>
    <p:sldId id="264" r:id="rId6"/>
    <p:sldId id="265" r:id="rId7"/>
    <p:sldId id="266" r:id="rId8"/>
    <p:sldId id="267" r:id="rId9"/>
    <p:sldId id="271" r:id="rId10"/>
    <p:sldId id="269" r:id="rId11"/>
    <p:sldId id="272" r:id="rId12"/>
    <p:sldId id="268" r:id="rId13"/>
    <p:sldId id="273" r:id="rId14"/>
    <p:sldId id="274" r:id="rId15"/>
    <p:sldId id="275" r:id="rId16"/>
    <p:sldId id="276" r:id="rId17"/>
    <p:sldId id="277" r:id="rId18"/>
    <p:sldId id="27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vansang" initials="l" lastIdx="1" clrIdx="0">
    <p:extLst>
      <p:ext uri="{19B8F6BF-5375-455C-9EA6-DF929625EA0E}">
        <p15:presenceInfo xmlns:p15="http://schemas.microsoft.com/office/powerpoint/2012/main" userId="levansa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F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2-09-14T15:33:09.639" idx="1">
    <p:pos x="10" y="10"/>
    <p:text/>
    <p:extLst>
      <p:ext uri="{C676402C-5697-4E1C-873F-D02D1690AC5C}">
        <p15:threadingInfo xmlns:p15="http://schemas.microsoft.com/office/powerpoint/2012/main" timeZoneBias="-42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ED649A-63E3-403E-8B8D-7081E21567BD}" type="datetimeFigureOut">
              <a:rPr lang="en-US" smtClean="0"/>
              <a:t>10/13/2022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132F93-AFD0-4814-9103-68F2CE3B3F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8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6A921-12B9-4EE7-9982-12CCE490F812}" type="datetime1">
              <a:rPr lang="en-US" smtClean="0"/>
              <a:t>10/13/2022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862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DC538-761A-4CC5-BF16-54B7E2253EF1}" type="datetime1">
              <a:rPr lang="en-US" smtClean="0"/>
              <a:t>10/13/2022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25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E5C49-F666-4E92-9BDB-7B361AC9998E}" type="datetime1">
              <a:rPr lang="en-US" smtClean="0"/>
              <a:t>10/13/2022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93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7A475-8687-4019-BABC-342C1F027223}" type="datetime1">
              <a:rPr lang="en-US" smtClean="0"/>
              <a:t>10/13/2022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793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2256B-B986-461F-B986-545598CABEF6}" type="datetime1">
              <a:rPr lang="en-US" smtClean="0"/>
              <a:t>10/13/2022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1428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5D6E-532E-4741-A1B5-EE766C272AFB}" type="datetime1">
              <a:rPr lang="en-US" smtClean="0"/>
              <a:t>10/13/2022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8858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9DBDC-D9E1-4B2B-8873-75B1EE9FE09D}" type="datetime1">
              <a:rPr lang="en-US" smtClean="0"/>
              <a:t>10/13/2022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437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1BA17-769F-4263-99B5-7E7A72C1FD5A}" type="datetime1">
              <a:rPr lang="en-US" smtClean="0"/>
              <a:t>10/13/2022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954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8C671-38DF-4F54-8C8D-D23197DE503A}" type="datetime1">
              <a:rPr lang="en-US" smtClean="0"/>
              <a:t>10/13/2022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646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C89E7-5380-4C47-9D05-C7089057873A}" type="datetime1">
              <a:rPr lang="en-US" smtClean="0"/>
              <a:t>10/13/2022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141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0D552-6C90-4086-BBFB-C885807561A6}" type="datetime1">
              <a:rPr lang="en-US" smtClean="0"/>
              <a:t>10/13/2022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1635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12BBC-F3D8-4C50-BCA9-DF8BF46CC0B7}" type="datetime1">
              <a:rPr lang="en-US" smtClean="0"/>
              <a:t>10/13/2022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116291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B7456-FFF0-40B6-8AFF-4B349637063F}" type="datetime1">
              <a:rPr lang="en-US" smtClean="0"/>
              <a:t>10/13/2022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8258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EE42B-45C1-4A3A-AA74-296A317207E9}" type="datetime1">
              <a:rPr lang="en-US" smtClean="0"/>
              <a:t>10/13/2022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1687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53037-84ED-46B6-B3F8-DB3E75110C16}" type="datetime1">
              <a:rPr lang="en-US" smtClean="0"/>
              <a:t>10/13/2022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2089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5B006-E3DE-443F-8E11-6E9C06CC0982}" type="datetime1">
              <a:rPr lang="en-US" smtClean="0"/>
              <a:t>10/13/2022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6775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6596C-5022-497F-A535-BE888241D17A}" type="datetime1">
              <a:rPr lang="en-US" smtClean="0"/>
              <a:t>10/13/2022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6539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08D16-680D-4DC1-8140-63017425206F}" type="datetime1">
              <a:rPr lang="en-US" smtClean="0"/>
              <a:t>10/13/2022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69A97-CCB1-40A8-8C63-5079CF72E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992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AC85F6C-1AA4-4226-A342-11188EABF686}" type="datetime1">
              <a:rPr lang="en-US" smtClean="0"/>
              <a:t>10/13/2022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65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  <p:sldLayoutId id="2147483707" r:id="rId18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image" Target="../media/image5.emf"/><Relationship Id="rId7" Type="http://schemas.openxmlformats.org/officeDocument/2006/relationships/image" Target="../media/image9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emf"/><Relationship Id="rId11" Type="http://schemas.openxmlformats.org/officeDocument/2006/relationships/image" Target="../media/image13.emf"/><Relationship Id="rId5" Type="http://schemas.openxmlformats.org/officeDocument/2006/relationships/image" Target="../media/image7.emf"/><Relationship Id="rId10" Type="http://schemas.openxmlformats.org/officeDocument/2006/relationships/image" Target="../media/image12.emf"/><Relationship Id="rId4" Type="http://schemas.openxmlformats.org/officeDocument/2006/relationships/image" Target="../media/image6.emf"/><Relationship Id="rId9" Type="http://schemas.openxmlformats.org/officeDocument/2006/relationships/image" Target="../media/image11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image" Target="../media/image15.emf"/><Relationship Id="rId7" Type="http://schemas.openxmlformats.org/officeDocument/2006/relationships/image" Target="../media/image19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emf"/><Relationship Id="rId5" Type="http://schemas.openxmlformats.org/officeDocument/2006/relationships/image" Target="../media/image17.emf"/><Relationship Id="rId10" Type="http://schemas.openxmlformats.org/officeDocument/2006/relationships/image" Target="../media/image22.emf"/><Relationship Id="rId4" Type="http://schemas.openxmlformats.org/officeDocument/2006/relationships/image" Target="../media/image16.emf"/><Relationship Id="rId9" Type="http://schemas.openxmlformats.org/officeDocument/2006/relationships/image" Target="../media/image2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emf"/><Relationship Id="rId4" Type="http://schemas.openxmlformats.org/officeDocument/2006/relationships/image" Target="../media/image2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emf"/><Relationship Id="rId5" Type="http://schemas.openxmlformats.org/officeDocument/2006/relationships/image" Target="../media/image29.emf"/><Relationship Id="rId4" Type="http://schemas.openxmlformats.org/officeDocument/2006/relationships/image" Target="../media/image28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emf"/><Relationship Id="rId5" Type="http://schemas.openxmlformats.org/officeDocument/2006/relationships/image" Target="../media/image37.emf"/><Relationship Id="rId4" Type="http://schemas.openxmlformats.org/officeDocument/2006/relationships/image" Target="../media/image36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emf"/><Relationship Id="rId3" Type="http://schemas.openxmlformats.org/officeDocument/2006/relationships/image" Target="../media/image40.emf"/><Relationship Id="rId7" Type="http://schemas.openxmlformats.org/officeDocument/2006/relationships/image" Target="../media/image44.emf"/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emf"/><Relationship Id="rId11" Type="http://schemas.openxmlformats.org/officeDocument/2006/relationships/image" Target="../media/image48.emf"/><Relationship Id="rId5" Type="http://schemas.openxmlformats.org/officeDocument/2006/relationships/image" Target="../media/image42.emf"/><Relationship Id="rId10" Type="http://schemas.openxmlformats.org/officeDocument/2006/relationships/image" Target="../media/image47.emf"/><Relationship Id="rId4" Type="http://schemas.openxmlformats.org/officeDocument/2006/relationships/image" Target="../media/image41.emf"/><Relationship Id="rId9" Type="http://schemas.openxmlformats.org/officeDocument/2006/relationships/image" Target="../media/image46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emf"/><Relationship Id="rId3" Type="http://schemas.openxmlformats.org/officeDocument/2006/relationships/image" Target="../media/image50.emf"/><Relationship Id="rId7" Type="http://schemas.openxmlformats.org/officeDocument/2006/relationships/image" Target="../media/image54.emf"/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emf"/><Relationship Id="rId5" Type="http://schemas.openxmlformats.org/officeDocument/2006/relationships/image" Target="../media/image52.emf"/><Relationship Id="rId4" Type="http://schemas.openxmlformats.org/officeDocument/2006/relationships/image" Target="../media/image51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emf"/><Relationship Id="rId5" Type="http://schemas.openxmlformats.org/officeDocument/2006/relationships/image" Target="../media/image63.emf"/><Relationship Id="rId4" Type="http://schemas.openxmlformats.org/officeDocument/2006/relationships/image" Target="../media/image62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emf"/><Relationship Id="rId13" Type="http://schemas.openxmlformats.org/officeDocument/2006/relationships/image" Target="../media/image76.emf"/><Relationship Id="rId3" Type="http://schemas.openxmlformats.org/officeDocument/2006/relationships/image" Target="../media/image66.emf"/><Relationship Id="rId7" Type="http://schemas.openxmlformats.org/officeDocument/2006/relationships/image" Target="../media/image70.emf"/><Relationship Id="rId12" Type="http://schemas.openxmlformats.org/officeDocument/2006/relationships/image" Target="../media/image75.emf"/><Relationship Id="rId2" Type="http://schemas.openxmlformats.org/officeDocument/2006/relationships/image" Target="../media/image6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emf"/><Relationship Id="rId11" Type="http://schemas.openxmlformats.org/officeDocument/2006/relationships/image" Target="../media/image74.emf"/><Relationship Id="rId5" Type="http://schemas.openxmlformats.org/officeDocument/2006/relationships/image" Target="../media/image68.emf"/><Relationship Id="rId15" Type="http://schemas.openxmlformats.org/officeDocument/2006/relationships/comments" Target="../comments/comment1.xml"/><Relationship Id="rId10" Type="http://schemas.openxmlformats.org/officeDocument/2006/relationships/image" Target="../media/image73.emf"/><Relationship Id="rId4" Type="http://schemas.openxmlformats.org/officeDocument/2006/relationships/image" Target="../media/image67.emf"/><Relationship Id="rId9" Type="http://schemas.openxmlformats.org/officeDocument/2006/relationships/image" Target="../media/image72.emf"/><Relationship Id="rId14" Type="http://schemas.openxmlformats.org/officeDocument/2006/relationships/image" Target="../media/image77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emf"/><Relationship Id="rId3" Type="http://schemas.openxmlformats.org/officeDocument/2006/relationships/image" Target="../media/image79.emf"/><Relationship Id="rId7" Type="http://schemas.openxmlformats.org/officeDocument/2006/relationships/image" Target="../media/image83.emf"/><Relationship Id="rId2" Type="http://schemas.openxmlformats.org/officeDocument/2006/relationships/image" Target="../media/image7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emf"/><Relationship Id="rId5" Type="http://schemas.openxmlformats.org/officeDocument/2006/relationships/image" Target="../media/image81.emf"/><Relationship Id="rId4" Type="http://schemas.openxmlformats.org/officeDocument/2006/relationships/image" Target="../media/image80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emf"/><Relationship Id="rId3" Type="http://schemas.openxmlformats.org/officeDocument/2006/relationships/image" Target="../media/image86.emf"/><Relationship Id="rId7" Type="http://schemas.openxmlformats.org/officeDocument/2006/relationships/image" Target="../media/image90.emf"/><Relationship Id="rId2" Type="http://schemas.openxmlformats.org/officeDocument/2006/relationships/image" Target="../media/image8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emf"/><Relationship Id="rId5" Type="http://schemas.openxmlformats.org/officeDocument/2006/relationships/image" Target="../media/image88.emf"/><Relationship Id="rId10" Type="http://schemas.openxmlformats.org/officeDocument/2006/relationships/image" Target="../media/image93.emf"/><Relationship Id="rId4" Type="http://schemas.openxmlformats.org/officeDocument/2006/relationships/image" Target="../media/image87.emf"/><Relationship Id="rId9" Type="http://schemas.openxmlformats.org/officeDocument/2006/relationships/image" Target="../media/image92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emf"/><Relationship Id="rId3" Type="http://schemas.openxmlformats.org/officeDocument/2006/relationships/image" Target="../media/image95.emf"/><Relationship Id="rId7" Type="http://schemas.openxmlformats.org/officeDocument/2006/relationships/image" Target="../media/image99.emf"/><Relationship Id="rId12" Type="http://schemas.openxmlformats.org/officeDocument/2006/relationships/image" Target="../media/image104.emf"/><Relationship Id="rId2" Type="http://schemas.openxmlformats.org/officeDocument/2006/relationships/image" Target="../media/image9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emf"/><Relationship Id="rId11" Type="http://schemas.openxmlformats.org/officeDocument/2006/relationships/image" Target="../media/image103.emf"/><Relationship Id="rId5" Type="http://schemas.openxmlformats.org/officeDocument/2006/relationships/image" Target="../media/image97.emf"/><Relationship Id="rId10" Type="http://schemas.openxmlformats.org/officeDocument/2006/relationships/image" Target="../media/image102.emf"/><Relationship Id="rId4" Type="http://schemas.openxmlformats.org/officeDocument/2006/relationships/image" Target="../media/image96.emf"/><Relationship Id="rId9" Type="http://schemas.openxmlformats.org/officeDocument/2006/relationships/image" Target="../media/image10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3421304" y="113124"/>
            <a:ext cx="5647282" cy="583498"/>
          </a:xfrm>
        </p:spPr>
        <p:txBody>
          <a:bodyPr/>
          <a:lstStyle/>
          <a:p>
            <a:pPr marL="0" indent="0">
              <a:buNone/>
            </a:pPr>
            <a:r>
              <a:rPr lang="en-US" sz="2400" b="1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sz="24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MA TRẬN – ĐỊNH THỨC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614" y="897330"/>
            <a:ext cx="5591310" cy="27741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25921" y="3717471"/>
            <a:ext cx="57673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Ma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trận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cỡ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m × n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bảng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hay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phức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gồm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m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n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cột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.   </a:t>
            </a:r>
          </a:p>
        </p:txBody>
      </p:sp>
      <p:sp>
        <p:nvSpPr>
          <p:cNvPr id="7" name="TextBox 6"/>
          <p:cNvSpPr txBox="1"/>
          <p:nvPr/>
        </p:nvSpPr>
        <p:spPr>
          <a:xfrm flipH="1">
            <a:off x="2728146" y="5010074"/>
            <a:ext cx="4553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 BIỆT MỘT SỐ DẠNG MA TRẬN </a:t>
            </a:r>
          </a:p>
        </p:txBody>
      </p:sp>
      <p:sp>
        <p:nvSpPr>
          <p:cNvPr id="8" name="TextBox 7"/>
          <p:cNvSpPr txBox="1"/>
          <p:nvPr/>
        </p:nvSpPr>
        <p:spPr>
          <a:xfrm flipH="1">
            <a:off x="2728146" y="5590865"/>
            <a:ext cx="3735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NHỮNG TÍNH TOÁN CƠ BẢN 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0" y="5126285"/>
            <a:ext cx="2574712" cy="10453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 flipH="1">
            <a:off x="2734739" y="6150687"/>
            <a:ext cx="3591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PHÉP BIẾN ĐỔI HÀNG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451" y="657497"/>
            <a:ext cx="1904561" cy="107371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4651" y="382265"/>
            <a:ext cx="2848553" cy="16241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451" y="1885576"/>
            <a:ext cx="1866964" cy="157600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68346" y="2152376"/>
            <a:ext cx="2954858" cy="100897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50451" y="3670749"/>
            <a:ext cx="3101699" cy="592601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90881" y="3183235"/>
            <a:ext cx="1374690" cy="156762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50451" y="4834427"/>
            <a:ext cx="2124200" cy="1560147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55152" y="4834427"/>
            <a:ext cx="2637971" cy="1602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375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69A97-CCB1-40A8-8C63-5079CF72ECAC}" type="slidenum">
              <a:rPr lang="en-US" smtClean="0"/>
              <a:t>2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831" y="821663"/>
            <a:ext cx="5591310" cy="27741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4430" y="694748"/>
            <a:ext cx="2121031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i="1" dirty="0">
                <a:solidFill>
                  <a:srgbClr val="00B050"/>
                </a:solidFill>
              </a:rPr>
              <a:t>HÀNG</a:t>
            </a:r>
          </a:p>
          <a:p>
            <a:endParaRPr lang="en-US" sz="2200" b="1" i="1" dirty="0"/>
          </a:p>
          <a:p>
            <a:r>
              <a:rPr lang="en-US" sz="2200" b="1" i="1" dirty="0">
                <a:solidFill>
                  <a:srgbClr val="FFC000"/>
                </a:solidFill>
              </a:rPr>
              <a:t>CỘT</a:t>
            </a:r>
          </a:p>
          <a:p>
            <a:endParaRPr lang="en-US" sz="2200" b="1" i="1" dirty="0"/>
          </a:p>
          <a:p>
            <a:r>
              <a:rPr lang="en-US" sz="2200" b="1" i="1" dirty="0">
                <a:solidFill>
                  <a:srgbClr val="00B0F0"/>
                </a:solidFill>
              </a:rPr>
              <a:t>VUÔNG</a:t>
            </a:r>
          </a:p>
          <a:p>
            <a:endParaRPr lang="en-US" sz="2200" b="1" i="1" dirty="0"/>
          </a:p>
          <a:p>
            <a:r>
              <a:rPr lang="en-US" sz="2200" b="1" i="1" dirty="0">
                <a:solidFill>
                  <a:srgbClr val="002060"/>
                </a:solidFill>
              </a:rPr>
              <a:t>ĐƠN VỊ</a:t>
            </a:r>
          </a:p>
          <a:p>
            <a:endParaRPr lang="en-US" sz="2200" b="1" i="1" dirty="0"/>
          </a:p>
          <a:p>
            <a:r>
              <a:rPr lang="en-US" sz="2200" b="1" i="1" dirty="0">
                <a:solidFill>
                  <a:schemeClr val="accent6"/>
                </a:solidFill>
              </a:rPr>
              <a:t>KHÔNG</a:t>
            </a:r>
          </a:p>
          <a:p>
            <a:endParaRPr lang="en-US" sz="2200" b="1" i="1" dirty="0"/>
          </a:p>
          <a:p>
            <a:r>
              <a:rPr lang="en-US" sz="2200" b="1" i="1" dirty="0">
                <a:solidFill>
                  <a:srgbClr val="00B050"/>
                </a:solidFill>
              </a:rPr>
              <a:t>CHÉO</a:t>
            </a:r>
          </a:p>
          <a:p>
            <a:endParaRPr lang="en-US" sz="2200" b="1" i="1" dirty="0"/>
          </a:p>
          <a:p>
            <a:r>
              <a:rPr lang="en-US" sz="2200" b="1" i="1" dirty="0">
                <a:solidFill>
                  <a:schemeClr val="accent2"/>
                </a:solidFill>
              </a:rPr>
              <a:t>TAM GIÁC TRÊN</a:t>
            </a:r>
          </a:p>
          <a:p>
            <a:endParaRPr lang="en-US" sz="2200" b="1" i="1" dirty="0"/>
          </a:p>
          <a:p>
            <a:r>
              <a:rPr lang="en-US" sz="2200" b="1" i="1" dirty="0">
                <a:solidFill>
                  <a:schemeClr val="accent6">
                    <a:lumMod val="50000"/>
                  </a:schemeClr>
                </a:solidFill>
              </a:rPr>
              <a:t>TAM GIÁC DƯỚI</a:t>
            </a:r>
          </a:p>
          <a:p>
            <a:endParaRPr lang="en-US" sz="2200" b="1" i="1" dirty="0"/>
          </a:p>
          <a:p>
            <a:r>
              <a:rPr lang="en-US" sz="2200" b="1" i="1" dirty="0">
                <a:solidFill>
                  <a:schemeClr val="accent4">
                    <a:lumMod val="75000"/>
                  </a:schemeClr>
                </a:solidFill>
              </a:rPr>
              <a:t>BẬC THANG</a:t>
            </a:r>
          </a:p>
          <a:p>
            <a:endParaRPr lang="en-US" sz="2200" dirty="0"/>
          </a:p>
        </p:txBody>
      </p:sp>
      <p:cxnSp>
        <p:nvCxnSpPr>
          <p:cNvPr id="11" name="Straight Arrow Connector 10"/>
          <p:cNvCxnSpPr/>
          <p:nvPr/>
        </p:nvCxnSpPr>
        <p:spPr>
          <a:xfrm flipH="1" flipV="1">
            <a:off x="1635550" y="933255"/>
            <a:ext cx="1607271" cy="560569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 flipV="1">
            <a:off x="1291473" y="1593132"/>
            <a:ext cx="1586543" cy="345766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 flipV="1">
            <a:off x="1721224" y="2236036"/>
            <a:ext cx="964237" cy="26447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1721223" y="2945580"/>
            <a:ext cx="996053" cy="0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1721223" y="3187041"/>
            <a:ext cx="964238" cy="258839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>
            <a:off x="1442301" y="3657774"/>
            <a:ext cx="996884" cy="405065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H="1">
            <a:off x="1776709" y="4034280"/>
            <a:ext cx="1079961" cy="704193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2176066" y="3834320"/>
            <a:ext cx="2018862" cy="2423036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2347276" y="4318824"/>
            <a:ext cx="737542" cy="1017466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 flipH="1">
            <a:off x="9879291" y="543365"/>
            <a:ext cx="1886776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i="1" dirty="0">
                <a:solidFill>
                  <a:srgbClr val="0070C0"/>
                </a:solidFill>
              </a:rPr>
              <a:t>CHUYỂN VỊ</a:t>
            </a:r>
          </a:p>
          <a:p>
            <a:endParaRPr lang="en-US" sz="2200" b="1" i="1" dirty="0"/>
          </a:p>
          <a:p>
            <a:r>
              <a:rPr lang="en-US" sz="2200" b="1" i="1" dirty="0">
                <a:solidFill>
                  <a:schemeClr val="accent2"/>
                </a:solidFill>
              </a:rPr>
              <a:t>LIÊN HỢP</a:t>
            </a:r>
          </a:p>
          <a:p>
            <a:endParaRPr lang="en-US" sz="2200" b="1" i="1" dirty="0"/>
          </a:p>
          <a:p>
            <a:r>
              <a:rPr lang="en-US" sz="2200" b="1" i="1" dirty="0">
                <a:solidFill>
                  <a:srgbClr val="C00000"/>
                </a:solidFill>
              </a:rPr>
              <a:t>BẰNG NHAU</a:t>
            </a:r>
          </a:p>
          <a:p>
            <a:endParaRPr lang="en-US" sz="2200" b="1" i="1" dirty="0"/>
          </a:p>
          <a:p>
            <a:r>
              <a:rPr lang="en-US" sz="2200" b="1" i="1" dirty="0">
                <a:solidFill>
                  <a:srgbClr val="00B050"/>
                </a:solidFill>
              </a:rPr>
              <a:t>ĐỐI XỨNG</a:t>
            </a:r>
          </a:p>
          <a:p>
            <a:endParaRPr lang="en-US" sz="2200" b="1" i="1" dirty="0"/>
          </a:p>
          <a:p>
            <a:r>
              <a:rPr lang="en-US" sz="2200" b="1" i="1" dirty="0">
                <a:solidFill>
                  <a:srgbClr val="7030A0"/>
                </a:solidFill>
              </a:rPr>
              <a:t>PHẢN XỨNG</a:t>
            </a:r>
          </a:p>
          <a:p>
            <a:endParaRPr lang="en-US" sz="2200" b="1" i="1" dirty="0"/>
          </a:p>
          <a:p>
            <a:r>
              <a:rPr lang="en-US" sz="2200" b="1" i="1" dirty="0">
                <a:solidFill>
                  <a:srgbClr val="FFC000"/>
                </a:solidFill>
              </a:rPr>
              <a:t>NGHỊCH ĐẢO</a:t>
            </a:r>
          </a:p>
          <a:p>
            <a:endParaRPr lang="en-US" sz="2200" b="1" i="1" dirty="0">
              <a:solidFill>
                <a:srgbClr val="FFC000"/>
              </a:solidFill>
            </a:endParaRPr>
          </a:p>
          <a:p>
            <a:r>
              <a:rPr lang="en-US" sz="2200" b="1" i="1" dirty="0">
                <a:solidFill>
                  <a:srgbClr val="92D050"/>
                </a:solidFill>
              </a:rPr>
              <a:t>ĐỐI</a:t>
            </a:r>
          </a:p>
          <a:p>
            <a:endParaRPr lang="en-US" sz="2200" b="1" i="1" dirty="0"/>
          </a:p>
          <a:p>
            <a:endParaRPr lang="en-US" sz="2200" b="1" i="1" dirty="0">
              <a:solidFill>
                <a:srgbClr val="002060"/>
              </a:solidFill>
            </a:endParaRPr>
          </a:p>
        </p:txBody>
      </p:sp>
      <p:cxnSp>
        <p:nvCxnSpPr>
          <p:cNvPr id="51" name="Straight Arrow Connector 50"/>
          <p:cNvCxnSpPr/>
          <p:nvPr/>
        </p:nvCxnSpPr>
        <p:spPr>
          <a:xfrm flipV="1">
            <a:off x="8693697" y="882512"/>
            <a:ext cx="1221885" cy="784195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V="1">
            <a:off x="8954834" y="1475318"/>
            <a:ext cx="960748" cy="556828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V="1">
            <a:off x="8954834" y="2168165"/>
            <a:ext cx="960748" cy="36976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flipV="1">
            <a:off x="9030099" y="2824983"/>
            <a:ext cx="735290" cy="173863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V="1">
            <a:off x="8956372" y="3445880"/>
            <a:ext cx="959210" cy="16652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>
            <a:off x="8616099" y="3657774"/>
            <a:ext cx="1263192" cy="480593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4067369" y="5596348"/>
            <a:ext cx="435922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NHỮNG TÍNH TOÁN CƠ BẢN </a:t>
            </a:r>
          </a:p>
        </p:txBody>
      </p:sp>
      <p:sp>
        <p:nvSpPr>
          <p:cNvPr id="70" name="Down Arrow 69"/>
          <p:cNvSpPr/>
          <p:nvPr/>
        </p:nvSpPr>
        <p:spPr>
          <a:xfrm>
            <a:off x="5806564" y="3936811"/>
            <a:ext cx="386499" cy="1533402"/>
          </a:xfrm>
          <a:prstGeom prst="downArrow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8135332" y="3657774"/>
            <a:ext cx="1743959" cy="1079741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616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38187" y="477932"/>
            <a:ext cx="2876353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i="1" dirty="0">
                <a:solidFill>
                  <a:srgbClr val="00B050"/>
                </a:solidFill>
              </a:rPr>
              <a:t>1. HÀNG</a:t>
            </a:r>
          </a:p>
          <a:p>
            <a:endParaRPr lang="en-US" sz="2200" b="1" i="1" dirty="0"/>
          </a:p>
          <a:p>
            <a:endParaRPr lang="en-US" sz="2200" b="1" i="1" dirty="0">
              <a:solidFill>
                <a:srgbClr val="FFC000"/>
              </a:solidFill>
            </a:endParaRPr>
          </a:p>
          <a:p>
            <a:r>
              <a:rPr lang="en-US" sz="2200" b="1" i="1" dirty="0">
                <a:solidFill>
                  <a:srgbClr val="FFC000"/>
                </a:solidFill>
              </a:rPr>
              <a:t>2. CỘT</a:t>
            </a:r>
          </a:p>
          <a:p>
            <a:endParaRPr lang="en-US" sz="2200" b="1" i="1" dirty="0"/>
          </a:p>
          <a:p>
            <a:r>
              <a:rPr lang="en-US" sz="2200" b="1" i="1" dirty="0">
                <a:solidFill>
                  <a:srgbClr val="00B0F0"/>
                </a:solidFill>
              </a:rPr>
              <a:t>3. VUÔNG</a:t>
            </a:r>
          </a:p>
          <a:p>
            <a:endParaRPr lang="en-US" sz="2200" b="1" i="1" dirty="0"/>
          </a:p>
          <a:p>
            <a:r>
              <a:rPr lang="en-US" sz="2200" b="1" i="1" dirty="0">
                <a:solidFill>
                  <a:srgbClr val="002060"/>
                </a:solidFill>
              </a:rPr>
              <a:t>4. ĐƠN VỊ</a:t>
            </a:r>
          </a:p>
          <a:p>
            <a:endParaRPr lang="en-US" sz="2200" b="1" i="1" dirty="0"/>
          </a:p>
          <a:p>
            <a:r>
              <a:rPr lang="en-US" sz="2200" b="1" i="1" dirty="0">
                <a:solidFill>
                  <a:srgbClr val="92D050"/>
                </a:solidFill>
              </a:rPr>
              <a:t>5. KHÔNG</a:t>
            </a:r>
          </a:p>
          <a:p>
            <a:endParaRPr lang="en-US" sz="2200" b="1" i="1" dirty="0"/>
          </a:p>
          <a:p>
            <a:r>
              <a:rPr lang="en-US" sz="2200" b="1" i="1" dirty="0">
                <a:solidFill>
                  <a:srgbClr val="7030A0"/>
                </a:solidFill>
              </a:rPr>
              <a:t>6. CHÉO</a:t>
            </a:r>
          </a:p>
          <a:p>
            <a:endParaRPr lang="en-US" sz="2200" b="1" i="1" dirty="0"/>
          </a:p>
          <a:p>
            <a:r>
              <a:rPr lang="en-US" sz="2200" b="1" i="1" dirty="0">
                <a:solidFill>
                  <a:schemeClr val="accent2"/>
                </a:solidFill>
              </a:rPr>
              <a:t>7. TAM GIÁC TRÊN</a:t>
            </a:r>
          </a:p>
          <a:p>
            <a:endParaRPr lang="en-US" sz="2200" b="1" i="1" dirty="0"/>
          </a:p>
          <a:p>
            <a:r>
              <a:rPr lang="en-US" sz="2200" b="1" i="1" dirty="0">
                <a:solidFill>
                  <a:schemeClr val="accent6">
                    <a:lumMod val="50000"/>
                  </a:schemeClr>
                </a:solidFill>
              </a:rPr>
              <a:t>8. TAM GIÁC DƯỚI</a:t>
            </a:r>
          </a:p>
          <a:p>
            <a:endParaRPr lang="en-US" sz="2200" b="1" i="1" dirty="0"/>
          </a:p>
          <a:p>
            <a:r>
              <a:rPr lang="en-US" sz="2200" b="1" i="1" dirty="0">
                <a:solidFill>
                  <a:schemeClr val="accent4">
                    <a:lumMod val="75000"/>
                  </a:schemeClr>
                </a:solidFill>
              </a:rPr>
              <a:t>9. BẬC THANG</a:t>
            </a:r>
          </a:p>
          <a:p>
            <a:endParaRPr lang="en-US" sz="2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1087" y="65986"/>
            <a:ext cx="3472486" cy="558926"/>
          </a:xfrm>
          <a:prstGeom prst="rect">
            <a:avLst/>
          </a:prstGeom>
          <a:solidFill>
            <a:srgbClr val="00B050"/>
          </a:solidFill>
        </p:spPr>
      </p:pic>
      <p:sp>
        <p:nvSpPr>
          <p:cNvPr id="8" name="TextBox 7"/>
          <p:cNvSpPr txBox="1"/>
          <p:nvPr/>
        </p:nvSpPr>
        <p:spPr>
          <a:xfrm>
            <a:off x="4623573" y="-13926"/>
            <a:ext cx="5611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6128" y="820498"/>
            <a:ext cx="1196053" cy="195355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55317" y="751217"/>
            <a:ext cx="5611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8802" y="839350"/>
            <a:ext cx="2541937" cy="19212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938557" y="677376"/>
            <a:ext cx="5611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7220" y="860105"/>
            <a:ext cx="2426973" cy="1774951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3027" y="775267"/>
            <a:ext cx="1777031" cy="194129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947280" y="697799"/>
            <a:ext cx="5611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7292" y="660093"/>
            <a:ext cx="5611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0572" y="3037093"/>
            <a:ext cx="2686639" cy="156990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207165" y="2942951"/>
            <a:ext cx="5611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55202" y="2994408"/>
            <a:ext cx="3085486" cy="1662734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63010" y="2925498"/>
            <a:ext cx="3109033" cy="174213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206461" y="2784267"/>
            <a:ext cx="5611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01679" y="2766984"/>
            <a:ext cx="5611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63944" y="4809218"/>
            <a:ext cx="4647701" cy="199187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568576" y="4946147"/>
            <a:ext cx="5611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</a:t>
            </a:r>
          </a:p>
        </p:txBody>
      </p:sp>
    </p:spTree>
    <p:extLst>
      <p:ext uri="{BB962C8B-B14F-4D97-AF65-F5344CB8AC3E}">
        <p14:creationId xmlns:p14="http://schemas.microsoft.com/office/powerpoint/2010/main" val="2990169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82250" y="618779"/>
                <a:ext cx="7585233" cy="61202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b="1" i="1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1) CHUYỂN VỊ: </a:t>
                </a:r>
              </a:p>
              <a:p>
                <a:pPr lvl="0"/>
                <a:r>
                  <a:rPr lang="en-US" b="1" i="1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 </a:t>
                </a:r>
                <a:r>
                  <a:rPr lang="en-US" b="1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 </a:t>
                </a:r>
                <a:r>
                  <a:rPr lang="en-US" b="1" dirty="0" err="1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trận</a:t>
                </a:r>
                <a:r>
                  <a:rPr lang="en-US" b="1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b="1" dirty="0" err="1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chuyển</a:t>
                </a:r>
                <a:r>
                  <a:rPr lang="en-US" b="1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b="1" dirty="0" err="1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vị</a:t>
                </a:r>
                <a:r>
                  <a:rPr lang="en-US" b="1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b="1" dirty="0" err="1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của</a:t>
                </a:r>
                <a:r>
                  <a:rPr lang="en-US" b="1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 = (</a:t>
                </a:r>
                <a:r>
                  <a:rPr lang="en-US" b="1" dirty="0" err="1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en-US" b="1" baseline="-25000" dirty="0" err="1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ij</a:t>
                </a:r>
                <a:r>
                  <a:rPr lang="en-US" b="1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r>
                  <a:rPr lang="en-US" b="1" baseline="-250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 × n</a:t>
                </a:r>
                <a:r>
                  <a:rPr lang="en-US" b="1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b="1" dirty="0" err="1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là</a:t>
                </a:r>
                <a:r>
                  <a:rPr lang="en-US" b="1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</a:t>
                </a:r>
                <a:r>
                  <a:rPr lang="en-US" b="1" baseline="300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  <a:r>
                  <a:rPr lang="en-US" b="1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= (</a:t>
                </a:r>
                <a:r>
                  <a:rPr lang="en-US" b="1" dirty="0" err="1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en-US" b="1" baseline="-25000" dirty="0" err="1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ji</a:t>
                </a:r>
                <a:r>
                  <a:rPr lang="en-US" b="1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r>
                  <a:rPr lang="en-US" b="1" baseline="-250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 × m</a:t>
                </a:r>
                <a:r>
                  <a:rPr lang="en-US" b="1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r>
                  <a:rPr lang="en-US" b="1" i="1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lvl="0"/>
                <a:r>
                  <a:rPr lang="en-US" b="1" i="1" dirty="0">
                    <a:solidFill>
                      <a:schemeClr val="accent5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2) LIÊN HỢP:</a:t>
                </a:r>
              </a:p>
              <a:p>
                <a:pPr lvl="0"/>
                <a:r>
                  <a:rPr lang="en-US" b="1" i="1" dirty="0">
                    <a:solidFill>
                      <a:schemeClr val="accent5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 </a:t>
                </a:r>
                <a:r>
                  <a:rPr lang="en-US" b="1" dirty="0">
                    <a:solidFill>
                      <a:schemeClr val="accent5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 </a:t>
                </a:r>
                <a:r>
                  <a:rPr lang="en-US" b="1" dirty="0" err="1">
                    <a:solidFill>
                      <a:schemeClr val="accent5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trận</a:t>
                </a:r>
                <a:r>
                  <a:rPr lang="en-US" b="1" dirty="0">
                    <a:solidFill>
                      <a:schemeClr val="accent5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b="1" dirty="0" err="1">
                    <a:solidFill>
                      <a:schemeClr val="accent5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liên</a:t>
                </a:r>
                <a:r>
                  <a:rPr lang="en-US" b="1" dirty="0">
                    <a:solidFill>
                      <a:schemeClr val="accent5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b="1" dirty="0" err="1">
                    <a:solidFill>
                      <a:schemeClr val="accent5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hợp</a:t>
                </a:r>
                <a:r>
                  <a:rPr lang="en-US" b="1" dirty="0">
                    <a:solidFill>
                      <a:schemeClr val="accent5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b="1" dirty="0" err="1">
                    <a:solidFill>
                      <a:schemeClr val="accent5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của</a:t>
                </a:r>
                <a:r>
                  <a:rPr lang="en-US" b="1" dirty="0">
                    <a:solidFill>
                      <a:schemeClr val="accent5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 = (</a:t>
                </a:r>
                <a:r>
                  <a:rPr lang="en-US" b="1" dirty="0" err="1">
                    <a:solidFill>
                      <a:schemeClr val="accent5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en-US" b="1" baseline="-25000" dirty="0" err="1">
                    <a:solidFill>
                      <a:schemeClr val="accent5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ij</a:t>
                </a:r>
                <a:r>
                  <a:rPr lang="en-US" b="1" dirty="0">
                    <a:solidFill>
                      <a:schemeClr val="accent5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r>
                  <a:rPr lang="en-US" b="1" baseline="-25000" dirty="0">
                    <a:solidFill>
                      <a:schemeClr val="accent5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 × n</a:t>
                </a:r>
                <a:r>
                  <a:rPr lang="en-US" b="1" dirty="0">
                    <a:solidFill>
                      <a:schemeClr val="accent5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b="1" dirty="0" err="1">
                    <a:solidFill>
                      <a:schemeClr val="accent5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là</a:t>
                </a:r>
                <a:r>
                  <a:rPr lang="en-US" b="1" dirty="0">
                    <a:solidFill>
                      <a:schemeClr val="accent5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1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  <m:r>
                      <a:rPr lang="en-US" b="1" i="1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1" dirty="0">
                    <a:solidFill>
                      <a:schemeClr val="accent5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1" i="1" dirty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 dirty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acc>
                      </m:e>
                      <m:sub>
                        <m:r>
                          <a:rPr lang="en-US" b="1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𝒋𝒊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chemeClr val="accent5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r>
                  <a:rPr lang="en-US" b="1" baseline="-25000" dirty="0">
                    <a:solidFill>
                      <a:schemeClr val="accent5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 × m</a:t>
                </a:r>
                <a:r>
                  <a:rPr lang="en-US" b="1" dirty="0">
                    <a:solidFill>
                      <a:schemeClr val="accent5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endParaRPr lang="en-US" b="1" i="1" dirty="0">
                  <a:solidFill>
                    <a:schemeClr val="accent5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/>
                <a:r>
                  <a:rPr lang="en-US" b="1" i="1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3) BẰNG NHAU:</a:t>
                </a:r>
                <a:r>
                  <a:rPr lang="en-US" b="1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lvl="0"/>
                <a:r>
                  <a:rPr lang="en-US" b="1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  Hai ma </a:t>
                </a:r>
                <a:r>
                  <a:rPr lang="en-US" b="1" dirty="0" err="1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trận</a:t>
                </a:r>
                <a:r>
                  <a:rPr lang="en-US" b="1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 = (</a:t>
                </a:r>
                <a:r>
                  <a:rPr lang="en-US" b="1" dirty="0" err="1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en-US" b="1" baseline="-25000" dirty="0" err="1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ij</a:t>
                </a:r>
                <a:r>
                  <a:rPr lang="en-US" b="1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r>
                  <a:rPr lang="en-US" b="1" baseline="-25000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 × n</a:t>
                </a:r>
                <a:r>
                  <a:rPr lang="en-US" b="1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b="1" dirty="0" err="1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và</a:t>
                </a:r>
                <a:r>
                  <a:rPr lang="en-US" b="1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B = (</a:t>
                </a:r>
                <a:r>
                  <a:rPr lang="en-US" b="1" dirty="0" err="1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:r>
                  <a:rPr lang="en-US" b="1" baseline="-25000" dirty="0" err="1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ij</a:t>
                </a:r>
                <a:r>
                  <a:rPr lang="en-US" b="1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r>
                  <a:rPr lang="en-US" b="1" baseline="-25000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 × n</a:t>
                </a:r>
                <a:r>
                  <a:rPr lang="en-US" b="1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;  A = B </a:t>
                </a:r>
                <a:r>
                  <a:rPr lang="en-US" b="1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 </a:t>
                </a:r>
                <a:r>
                  <a:rPr lang="en-US" b="1" dirty="0" err="1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en-US" b="1" baseline="-25000" dirty="0" err="1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ij</a:t>
                </a:r>
                <a:r>
                  <a:rPr lang="en-US" b="1" baseline="-25000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b="1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= </a:t>
                </a:r>
                <a:r>
                  <a:rPr lang="en-US" b="1" dirty="0" err="1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:r>
                  <a:rPr lang="en-US" b="1" baseline="-25000" dirty="0" err="1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ij</a:t>
                </a:r>
                <a:r>
                  <a:rPr lang="en-US" b="1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 </a:t>
                </a:r>
                <a:endParaRPr lang="en-US" b="1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b="1" i="1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b="1" i="1" dirty="0">
                    <a:solidFill>
                      <a:schemeClr val="accent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4) ĐỐI:</a:t>
                </a:r>
              </a:p>
              <a:p>
                <a:r>
                  <a:rPr lang="en-US" b="1" i="1" dirty="0">
                    <a:solidFill>
                      <a:schemeClr val="accent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 Ma </a:t>
                </a:r>
                <a:r>
                  <a:rPr lang="en-US" b="1" i="1" dirty="0" err="1">
                    <a:solidFill>
                      <a:schemeClr val="accent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trận</a:t>
                </a:r>
                <a:r>
                  <a:rPr lang="en-US" b="1" i="1" dirty="0">
                    <a:solidFill>
                      <a:schemeClr val="accent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b="1" i="1" dirty="0" err="1">
                    <a:solidFill>
                      <a:schemeClr val="accent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đối</a:t>
                </a:r>
                <a:r>
                  <a:rPr lang="en-US" b="1" i="1" dirty="0">
                    <a:solidFill>
                      <a:schemeClr val="accent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b="1" i="1" dirty="0" err="1">
                    <a:solidFill>
                      <a:schemeClr val="accent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của</a:t>
                </a:r>
                <a:r>
                  <a:rPr lang="en-US" b="1" i="1" dirty="0">
                    <a:solidFill>
                      <a:schemeClr val="accent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ma </a:t>
                </a:r>
                <a:r>
                  <a:rPr lang="en-US" b="1" i="1" dirty="0" err="1">
                    <a:solidFill>
                      <a:schemeClr val="accent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trận</a:t>
                </a:r>
                <a:r>
                  <a:rPr lang="en-US" b="1" i="1" dirty="0">
                    <a:solidFill>
                      <a:schemeClr val="accent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 </a:t>
                </a:r>
                <a:r>
                  <a:rPr lang="en-US" b="1" i="1" dirty="0" err="1">
                    <a:solidFill>
                      <a:schemeClr val="accent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là</a:t>
                </a:r>
                <a:r>
                  <a:rPr lang="en-US" b="1" i="1" dirty="0">
                    <a:solidFill>
                      <a:schemeClr val="accent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–A</a:t>
                </a:r>
              </a:p>
              <a:p>
                <a:endParaRPr lang="en-US" b="1" i="1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b="1" i="1" dirty="0">
                    <a:solidFill>
                      <a:srgbClr val="00B0F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5) ĐỐI XỨNG: </a:t>
                </a:r>
              </a:p>
              <a:p>
                <a:r>
                  <a:rPr lang="en-US" b="1" i="1" dirty="0">
                    <a:solidFill>
                      <a:srgbClr val="00B0F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 </a:t>
                </a:r>
                <a:r>
                  <a:rPr lang="en-US" b="1" dirty="0">
                    <a:solidFill>
                      <a:srgbClr val="00B0F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 </a:t>
                </a:r>
                <a:r>
                  <a:rPr lang="en-US" b="1" dirty="0" err="1">
                    <a:solidFill>
                      <a:srgbClr val="00B0F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trận</a:t>
                </a:r>
                <a:r>
                  <a:rPr lang="en-US" b="1" dirty="0">
                    <a:solidFill>
                      <a:srgbClr val="00B0F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 </a:t>
                </a:r>
                <a:r>
                  <a:rPr lang="en-US" b="1" dirty="0" err="1">
                    <a:solidFill>
                      <a:srgbClr val="00B0F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là</a:t>
                </a:r>
                <a:r>
                  <a:rPr lang="en-US" b="1" dirty="0">
                    <a:solidFill>
                      <a:srgbClr val="00B0F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b="1" dirty="0" err="1">
                    <a:solidFill>
                      <a:srgbClr val="00B0F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đối</a:t>
                </a:r>
                <a:r>
                  <a:rPr lang="en-US" b="1" dirty="0">
                    <a:solidFill>
                      <a:srgbClr val="00B0F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b="1" dirty="0" err="1">
                    <a:solidFill>
                      <a:srgbClr val="00B0F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xứng</a:t>
                </a:r>
                <a:r>
                  <a:rPr lang="en-US" b="1" dirty="0">
                    <a:solidFill>
                      <a:srgbClr val="00B0F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b="1" dirty="0" err="1">
                    <a:solidFill>
                      <a:srgbClr val="00B0F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nếu</a:t>
                </a:r>
                <a:r>
                  <a:rPr lang="en-US" b="1" dirty="0">
                    <a:solidFill>
                      <a:srgbClr val="00B0F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 = A</a:t>
                </a:r>
                <a:r>
                  <a:rPr lang="en-US" b="1" baseline="30000" dirty="0">
                    <a:solidFill>
                      <a:srgbClr val="00B0F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  <a:r>
                  <a:rPr lang="en-US" b="1" dirty="0">
                    <a:solidFill>
                      <a:srgbClr val="00B0F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b="1" dirty="0" err="1">
                    <a:solidFill>
                      <a:srgbClr val="00B0F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tức</a:t>
                </a:r>
                <a:r>
                  <a:rPr lang="en-US" b="1" dirty="0">
                    <a:solidFill>
                      <a:srgbClr val="00B0F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b="1" dirty="0" err="1">
                    <a:solidFill>
                      <a:srgbClr val="00B0F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en-US" b="1" baseline="-25000" dirty="0" err="1">
                    <a:solidFill>
                      <a:srgbClr val="00B0F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ij</a:t>
                </a:r>
                <a:r>
                  <a:rPr lang="en-US" b="1" dirty="0">
                    <a:solidFill>
                      <a:srgbClr val="00B0F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:r>
                  <a:rPr lang="en-US" b="1" dirty="0" err="1">
                    <a:solidFill>
                      <a:srgbClr val="00B0F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en-US" b="1" baseline="-25000" dirty="0" err="1">
                    <a:solidFill>
                      <a:srgbClr val="00B0F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ji</a:t>
                </a:r>
                <a:endParaRPr lang="en-US" b="1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b="1" i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b="1" i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6) PHẢN XỨNG: </a:t>
                </a:r>
              </a:p>
              <a:p>
                <a:r>
                  <a:rPr lang="en-US" b="1" i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 </a:t>
                </a:r>
                <a:r>
                  <a:rPr lang="en-US" b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 </a:t>
                </a:r>
                <a:r>
                  <a:rPr lang="en-US" b="1" dirty="0" err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trận</a:t>
                </a:r>
                <a:r>
                  <a:rPr lang="en-US" b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 </a:t>
                </a:r>
                <a:r>
                  <a:rPr lang="en-US" b="1" dirty="0" err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là</a:t>
                </a:r>
                <a:r>
                  <a:rPr lang="en-US" b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b="1" dirty="0" err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phản</a:t>
                </a:r>
                <a:r>
                  <a:rPr lang="en-US" b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b="1" dirty="0" err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xứng</a:t>
                </a:r>
                <a:r>
                  <a:rPr lang="en-US" b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b="1" dirty="0" err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nếu</a:t>
                </a:r>
                <a:r>
                  <a:rPr lang="en-US" b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 = - A</a:t>
                </a:r>
                <a:r>
                  <a:rPr lang="en-US" b="1" baseline="300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  <a:r>
                  <a:rPr lang="en-US" b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b="1" dirty="0" err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tức</a:t>
                </a:r>
                <a:r>
                  <a:rPr lang="en-US" b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b="1" dirty="0" err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en-US" b="1" baseline="-25000" dirty="0" err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ij</a:t>
                </a:r>
                <a:r>
                  <a:rPr lang="en-US" b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= - </a:t>
                </a:r>
                <a:r>
                  <a:rPr lang="en-US" b="1" dirty="0" err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en-US" b="1" baseline="-25000" dirty="0" err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ji</a:t>
                </a:r>
                <a:endParaRPr lang="en-US" b="1" baseline="-250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b="1" i="1" baseline="-250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b="1" i="1" dirty="0">
                    <a:solidFill>
                      <a:srgbClr val="7030A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7) NGHỊCH ĐẢO: </a:t>
                </a:r>
              </a:p>
              <a:p>
                <a:r>
                  <a:rPr lang="en-US" b="1" i="1" dirty="0">
                    <a:solidFill>
                      <a:srgbClr val="7030A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  </a:t>
                </a:r>
                <a:r>
                  <a:rPr lang="en-US" b="1" dirty="0">
                    <a:solidFill>
                      <a:srgbClr val="7030A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 </a:t>
                </a:r>
                <a:r>
                  <a:rPr lang="en-US" b="1" dirty="0" err="1">
                    <a:solidFill>
                      <a:srgbClr val="7030A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trận</a:t>
                </a:r>
                <a:r>
                  <a:rPr lang="en-US" b="1" dirty="0">
                    <a:solidFill>
                      <a:srgbClr val="7030A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b="1" dirty="0" err="1">
                    <a:solidFill>
                      <a:srgbClr val="7030A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nghịch</a:t>
                </a:r>
                <a:r>
                  <a:rPr lang="en-US" b="1" dirty="0">
                    <a:solidFill>
                      <a:srgbClr val="7030A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b="1" dirty="0" err="1">
                    <a:solidFill>
                      <a:srgbClr val="7030A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đảo</a:t>
                </a:r>
                <a:r>
                  <a:rPr lang="en-US" b="1" dirty="0">
                    <a:solidFill>
                      <a:srgbClr val="7030A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b="1" dirty="0" err="1">
                    <a:solidFill>
                      <a:srgbClr val="7030A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của</a:t>
                </a:r>
                <a:r>
                  <a:rPr lang="en-US" b="1" dirty="0">
                    <a:solidFill>
                      <a:srgbClr val="7030A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ma </a:t>
                </a:r>
                <a:r>
                  <a:rPr lang="en-US" b="1" dirty="0" err="1">
                    <a:solidFill>
                      <a:srgbClr val="7030A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trận</a:t>
                </a:r>
                <a:r>
                  <a:rPr lang="en-US" b="1" dirty="0">
                    <a:solidFill>
                      <a:srgbClr val="7030A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 </a:t>
                </a:r>
                <a:r>
                  <a:rPr lang="en-US" b="1" dirty="0" err="1">
                    <a:solidFill>
                      <a:srgbClr val="7030A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là</a:t>
                </a:r>
                <a:r>
                  <a:rPr lang="en-US" b="1" dirty="0">
                    <a:solidFill>
                      <a:srgbClr val="7030A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</a:t>
                </a:r>
                <a:r>
                  <a:rPr lang="en-US" b="1" baseline="30000" dirty="0">
                    <a:solidFill>
                      <a:srgbClr val="7030A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-1</a:t>
                </a:r>
                <a:r>
                  <a:rPr lang="en-US" b="1" dirty="0">
                    <a:solidFill>
                      <a:srgbClr val="7030A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b="1" dirty="0" err="1">
                    <a:solidFill>
                      <a:srgbClr val="7030A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với</a:t>
                </a:r>
                <a:r>
                  <a:rPr lang="en-US" b="1" dirty="0">
                    <a:solidFill>
                      <a:srgbClr val="7030A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A.A</a:t>
                </a:r>
                <a:r>
                  <a:rPr lang="en-US" b="1" baseline="30000" dirty="0">
                    <a:solidFill>
                      <a:srgbClr val="7030A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-1</a:t>
                </a:r>
                <a:r>
                  <a:rPr lang="en-US" b="1" dirty="0">
                    <a:solidFill>
                      <a:srgbClr val="7030A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= I</a:t>
                </a:r>
              </a:p>
              <a:p>
                <a:endParaRPr lang="en-US" b="1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b="1" i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250" y="618779"/>
                <a:ext cx="7585233" cy="6120265"/>
              </a:xfrm>
              <a:prstGeom prst="rect">
                <a:avLst/>
              </a:prstGeom>
              <a:blipFill>
                <a:blip r:embed="rId2"/>
                <a:stretch>
                  <a:fillRect l="-723" t="-5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5775" y="618779"/>
            <a:ext cx="4665305" cy="177174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0809" y="2625193"/>
            <a:ext cx="4915386" cy="191774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6279" y="4778015"/>
            <a:ext cx="4857102" cy="1917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983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626" y="161256"/>
            <a:ext cx="4569988" cy="239484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26" y="2964104"/>
            <a:ext cx="6290283" cy="154203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7929" y="550049"/>
            <a:ext cx="2432164" cy="160810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2075" y="600360"/>
            <a:ext cx="2586758" cy="151664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626" y="5100952"/>
            <a:ext cx="6438116" cy="145696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77600" y="369533"/>
            <a:ext cx="5611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67355" y="492436"/>
            <a:ext cx="5611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7609" y="4914139"/>
            <a:ext cx="5611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3958" y="2812855"/>
            <a:ext cx="5611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9210" y="595674"/>
            <a:ext cx="5611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</a:p>
        </p:txBody>
      </p:sp>
      <p:sp>
        <p:nvSpPr>
          <p:cNvPr id="16" name="TextBox 15"/>
          <p:cNvSpPr txBox="1"/>
          <p:nvPr/>
        </p:nvSpPr>
        <p:spPr>
          <a:xfrm flipH="1">
            <a:off x="7867246" y="3192737"/>
            <a:ext cx="3543055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Hai ma </a:t>
            </a:r>
            <a:r>
              <a:rPr lang="en-US" sz="22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trận</a:t>
            </a:r>
            <a:r>
              <a:rPr lang="en-US" sz="22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sz="22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nhau</a:t>
            </a:r>
            <a:endParaRPr lang="en-US" sz="22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Ma </a:t>
            </a:r>
            <a:r>
              <a:rPr lang="en-US" sz="2200" b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trận</a:t>
            </a:r>
            <a:r>
              <a:rPr lang="en-US" sz="2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đối</a:t>
            </a:r>
            <a:endParaRPr lang="en-US" sz="22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Ma </a:t>
            </a:r>
            <a:r>
              <a:rPr lang="en-US" sz="2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trận</a:t>
            </a:r>
            <a:r>
              <a:rPr lang="en-US" sz="2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nghịch</a:t>
            </a:r>
            <a:r>
              <a:rPr lang="en-US" sz="2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đảo</a:t>
            </a:r>
            <a:endParaRPr lang="en-US" sz="22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2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Ma </a:t>
            </a:r>
            <a:r>
              <a:rPr lang="en-US" sz="22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trận</a:t>
            </a:r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đối</a:t>
            </a:r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xứng</a:t>
            </a:r>
            <a:endParaRPr lang="en-US" sz="22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Ma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trận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xứng</a:t>
            </a:r>
            <a:endParaRPr lang="en-US" sz="2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5906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 flipH="1">
            <a:off x="139986" y="103695"/>
            <a:ext cx="99844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Tìm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trận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chuyển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vị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trận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A, B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endParaRPr lang="en-US" sz="2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39" y="651136"/>
            <a:ext cx="7763089" cy="169613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860" y="2385321"/>
            <a:ext cx="10673568" cy="179040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860" y="4558609"/>
            <a:ext cx="11272378" cy="167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588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 flipH="1">
            <a:off x="139986" y="290983"/>
            <a:ext cx="99844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Phép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trận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endParaRPr lang="en-US" sz="2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10" y="675985"/>
            <a:ext cx="4320622" cy="127536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1655" y="757092"/>
            <a:ext cx="6206258" cy="11848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 flipH="1">
            <a:off x="139986" y="2709791"/>
            <a:ext cx="99844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Phép</a:t>
            </a:r>
            <a:r>
              <a:rPr lang="en-US" sz="22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22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2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cộng</a:t>
            </a:r>
            <a:r>
              <a:rPr lang="en-US" sz="22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hai</a:t>
            </a:r>
            <a:r>
              <a:rPr lang="en-US" sz="22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 </a:t>
            </a:r>
            <a:r>
              <a:rPr lang="en-US" sz="22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trận</a:t>
            </a:r>
            <a:endParaRPr lang="en-US" sz="22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107" y="3154508"/>
            <a:ext cx="3845771" cy="279475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7781" y="2946470"/>
            <a:ext cx="4973445" cy="167934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3832" y="4804919"/>
            <a:ext cx="7141344" cy="1775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081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 flipH="1">
            <a:off x="121132" y="121175"/>
            <a:ext cx="99844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Phép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hai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trận</a:t>
            </a:r>
            <a:endParaRPr lang="en-US" sz="2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66" y="678599"/>
            <a:ext cx="3723355" cy="215916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2464" y="1014073"/>
            <a:ext cx="4213279" cy="122185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3969" y="1472827"/>
            <a:ext cx="247306" cy="28535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8936" y="1391288"/>
            <a:ext cx="400246" cy="36689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0328" y="678599"/>
            <a:ext cx="4254267" cy="191441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6214" y="3021519"/>
            <a:ext cx="3154572" cy="127289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217" y="4281549"/>
            <a:ext cx="2256898" cy="39324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58157" y="2742541"/>
            <a:ext cx="5195172" cy="161959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58157" y="4053863"/>
            <a:ext cx="3435088" cy="1629786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3971" y="5654963"/>
            <a:ext cx="7445211" cy="104277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 flipH="1">
            <a:off x="8326693" y="5251191"/>
            <a:ext cx="417667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A.B ≠ B.A     </a:t>
            </a:r>
          </a:p>
          <a:p>
            <a:r>
              <a:rPr lang="en-US" sz="2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A.B = A.C </a:t>
            </a:r>
            <a:r>
              <a:rPr lang="en-US" sz="2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nhưng</a:t>
            </a:r>
            <a:r>
              <a:rPr lang="en-US" sz="2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 ≠ C     </a:t>
            </a:r>
          </a:p>
          <a:p>
            <a:r>
              <a:rPr lang="en-US" sz="2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A.B = 0 </a:t>
            </a:r>
            <a:r>
              <a:rPr lang="en-US" sz="2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2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suy</a:t>
            </a:r>
            <a:r>
              <a:rPr lang="en-US" sz="2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lang="en-US" sz="2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2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A = 0 </a:t>
            </a:r>
            <a:r>
              <a:rPr lang="en-US" sz="2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hoặc</a:t>
            </a:r>
            <a:r>
              <a:rPr lang="en-US" sz="2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 = 0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1030872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 flipH="1">
            <a:off x="121132" y="121175"/>
            <a:ext cx="311226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Phép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biến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endParaRPr lang="en-US" sz="2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 flipH="1">
            <a:off x="395925" y="885249"/>
            <a:ext cx="1131358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Mục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đích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phép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biến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này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làm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 </a:t>
            </a:r>
            <a:r>
              <a:rPr lang="en-US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trận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“</a:t>
            </a:r>
            <a:r>
              <a:rPr lang="en-US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gọn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 </a:t>
            </a:r>
            <a:r>
              <a:rPr lang="en-US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hơn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đó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tìm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dạng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 </a:t>
            </a:r>
            <a:r>
              <a:rPr lang="en-US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trận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bậc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thang, </a:t>
            </a:r>
            <a:r>
              <a:rPr lang="en-US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hạng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 </a:t>
            </a:r>
            <a:r>
              <a:rPr lang="en-US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trận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ma </a:t>
            </a:r>
            <a:r>
              <a:rPr lang="en-US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trận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nghịch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đảo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giải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phương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tuyến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925" y="2297781"/>
            <a:ext cx="45720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 </a:t>
            </a:r>
            <a:r>
              <a:rPr lang="en-US" sz="22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phép</a:t>
            </a:r>
            <a:r>
              <a:rPr lang="en-US" sz="2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biến</a:t>
            </a:r>
            <a:r>
              <a:rPr lang="en-US" sz="2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US" sz="2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sơ</a:t>
            </a:r>
            <a:r>
              <a:rPr lang="en-US" sz="2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cấp</a:t>
            </a:r>
            <a:r>
              <a:rPr lang="en-US" sz="2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342900" indent="-342900">
              <a:buFontTx/>
              <a:buChar char="-"/>
            </a:pPr>
            <a:r>
              <a:rPr lang="en-US" sz="22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US" sz="2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chỗ</a:t>
            </a:r>
            <a:r>
              <a:rPr lang="en-US" sz="2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hai</a:t>
            </a:r>
            <a:r>
              <a:rPr lang="en-US" sz="2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endParaRPr lang="en-US" sz="22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en-US" sz="22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sz="2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2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2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2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2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l-GR" sz="2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sz="2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l-GR" sz="2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≠</a:t>
            </a:r>
            <a:r>
              <a:rPr lang="en-US" sz="2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0</a:t>
            </a:r>
          </a:p>
          <a:p>
            <a:pPr marL="342900" indent="-342900">
              <a:buFontTx/>
              <a:buChar char="-"/>
            </a:pPr>
            <a:r>
              <a:rPr lang="en-US" sz="22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sz="2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2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2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2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2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l-GR" sz="2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sz="2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l-GR" sz="2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≠</a:t>
            </a:r>
            <a:r>
              <a:rPr lang="en-US" sz="2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0, </a:t>
            </a:r>
            <a:r>
              <a:rPr lang="en-US" sz="22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US" sz="2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đó</a:t>
            </a:r>
            <a:r>
              <a:rPr lang="en-US" sz="2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cộng</a:t>
            </a:r>
            <a:r>
              <a:rPr lang="en-US" sz="2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2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2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hang </a:t>
            </a:r>
            <a:r>
              <a:rPr lang="en-US" sz="22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khác</a:t>
            </a:r>
            <a:endParaRPr lang="en-US" sz="22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Tx/>
              <a:buChar char="-"/>
            </a:pPr>
            <a:endParaRPr lang="en-US" sz="22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Tx/>
              <a:buChar char="-"/>
            </a:pPr>
            <a:endParaRPr lang="en-US" sz="22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387" y="3310376"/>
            <a:ext cx="1738018" cy="141741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7986" y="1922994"/>
            <a:ext cx="1643751" cy="134053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632154">
            <a:off x="7386622" y="2686638"/>
            <a:ext cx="1273730" cy="588929"/>
          </a:xfrm>
          <a:prstGeom prst="rect">
            <a:avLst/>
          </a:prstGeom>
        </p:spPr>
      </p:pic>
      <p:cxnSp>
        <p:nvCxnSpPr>
          <p:cNvPr id="12" name="Straight Arrow Connector 11"/>
          <p:cNvCxnSpPr/>
          <p:nvPr/>
        </p:nvCxnSpPr>
        <p:spPr>
          <a:xfrm flipV="1">
            <a:off x="7391105" y="2777156"/>
            <a:ext cx="1543181" cy="907544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3355" y="3684700"/>
            <a:ext cx="1677284" cy="1235893"/>
          </a:xfrm>
          <a:prstGeom prst="rect">
            <a:avLst/>
          </a:prstGeom>
        </p:spPr>
      </p:pic>
      <p:cxnSp>
        <p:nvCxnSpPr>
          <p:cNvPr id="16" name="Straight Arrow Connector 15"/>
          <p:cNvCxnSpPr/>
          <p:nvPr/>
        </p:nvCxnSpPr>
        <p:spPr>
          <a:xfrm>
            <a:off x="7167405" y="4138472"/>
            <a:ext cx="2911229" cy="37602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7167405" y="4580710"/>
            <a:ext cx="2089354" cy="1302565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1760" y="5415717"/>
            <a:ext cx="1842007" cy="13002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26906" y="4272399"/>
            <a:ext cx="4572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2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7423" y="3573598"/>
            <a:ext cx="1435374" cy="617211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917115">
            <a:off x="7007742" y="5220858"/>
            <a:ext cx="2030961" cy="52294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26906" y="4920593"/>
            <a:ext cx="469885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                                   B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793181" y="5197592"/>
            <a:ext cx="3599710" cy="34400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48411" y="4798045"/>
            <a:ext cx="38316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Hữu</a:t>
            </a:r>
            <a:r>
              <a:rPr lang="en-US" sz="20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hạn</a:t>
            </a:r>
            <a:r>
              <a:rPr lang="en-US" sz="20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phép</a:t>
            </a:r>
            <a:r>
              <a:rPr lang="en-US" sz="20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biến</a:t>
            </a:r>
            <a:r>
              <a:rPr lang="en-US" sz="20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US" sz="20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endParaRPr lang="en-US" sz="20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31505" y="5459493"/>
            <a:ext cx="49627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2000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0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 </a:t>
            </a:r>
            <a:r>
              <a:rPr lang="en-US" sz="2000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20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hai</a:t>
            </a:r>
            <a:r>
              <a:rPr lang="en-US" sz="20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 </a:t>
            </a:r>
            <a:r>
              <a:rPr lang="en-US" sz="2000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trận</a:t>
            </a:r>
            <a:r>
              <a:rPr lang="en-US" sz="20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tương</a:t>
            </a:r>
            <a:r>
              <a:rPr lang="en-US" sz="20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đương</a:t>
            </a:r>
            <a:r>
              <a:rPr lang="en-US" sz="20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endParaRPr lang="en-US" sz="20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7444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10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644" y="1150761"/>
            <a:ext cx="11566034" cy="140390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795" y="2940655"/>
            <a:ext cx="10764618" cy="37240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 flipH="1">
            <a:off x="443795" y="246652"/>
            <a:ext cx="118980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phép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biến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đưa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trận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dạng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bậc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thang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tìm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hạng</a:t>
            </a:r>
            <a:endParaRPr lang="en-US" sz="2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2516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 flipH="1">
            <a:off x="2319728" y="29834"/>
            <a:ext cx="77386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phép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biến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tìm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trận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nghịch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đảo</a:t>
            </a:r>
            <a:endParaRPr lang="en-US" sz="2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53" y="473608"/>
            <a:ext cx="11947135" cy="189189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938" y="2491508"/>
            <a:ext cx="11564109" cy="442975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048" y="5925123"/>
            <a:ext cx="502929" cy="402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679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 flipH="1">
            <a:off x="3995549" y="320517"/>
            <a:ext cx="48090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bản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trận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5864" y="1263191"/>
            <a:ext cx="9992412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AutoNum type="arabicPeriod"/>
            </a:pPr>
            <a:r>
              <a:rPr lang="en-US" sz="2200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Nhận</a:t>
            </a:r>
            <a:r>
              <a:rPr lang="en-US" sz="22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biết</a:t>
            </a:r>
            <a:r>
              <a:rPr lang="en-US" sz="22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22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22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2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dạng</a:t>
            </a:r>
            <a:r>
              <a:rPr lang="en-US" sz="22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 </a:t>
            </a:r>
            <a:r>
              <a:rPr lang="en-US" sz="2200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trận</a:t>
            </a:r>
            <a:r>
              <a:rPr lang="en-US" sz="22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như</a:t>
            </a:r>
            <a:r>
              <a:rPr lang="en-US" sz="22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200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22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00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cột</a:t>
            </a:r>
            <a:r>
              <a:rPr lang="en-US" sz="22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00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vuông</a:t>
            </a:r>
            <a:r>
              <a:rPr lang="en-US" sz="22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00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đơn</a:t>
            </a:r>
            <a:r>
              <a:rPr lang="en-US" sz="22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vị</a:t>
            </a:r>
            <a:r>
              <a:rPr lang="en-US" sz="22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00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22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00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chéo</a:t>
            </a:r>
            <a:r>
              <a:rPr lang="en-US" sz="22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tam </a:t>
            </a:r>
            <a:r>
              <a:rPr lang="en-US" sz="2200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giác</a:t>
            </a:r>
            <a:r>
              <a:rPr lang="en-US" sz="22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sz="22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tam </a:t>
            </a:r>
            <a:r>
              <a:rPr lang="en-US" sz="2200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giác</a:t>
            </a:r>
            <a:r>
              <a:rPr lang="en-US" sz="22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dưới</a:t>
            </a:r>
            <a:r>
              <a:rPr lang="en-US" sz="22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00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bậc</a:t>
            </a:r>
            <a:r>
              <a:rPr lang="en-US" sz="22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thang, </a:t>
            </a:r>
            <a:r>
              <a:rPr lang="en-US" sz="2200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đối</a:t>
            </a:r>
            <a:r>
              <a:rPr lang="en-US" sz="22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xứng</a:t>
            </a:r>
            <a:r>
              <a:rPr lang="en-US" sz="22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2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sz="22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xứng</a:t>
            </a:r>
            <a:endParaRPr lang="en-US" sz="2200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buAutoNum type="arabicPeriod"/>
            </a:pPr>
            <a:endParaRPr lang="en-US" sz="2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buAutoNum type="arabicPeriod"/>
            </a:pPr>
            <a:r>
              <a:rPr lang="en-US" sz="2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Tìm</a:t>
            </a:r>
            <a:r>
              <a:rPr lang="en-US" sz="2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 </a:t>
            </a:r>
            <a:r>
              <a:rPr lang="en-US" sz="2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trận</a:t>
            </a:r>
            <a:r>
              <a:rPr lang="en-US" sz="2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đối</a:t>
            </a:r>
            <a:r>
              <a:rPr lang="en-US" sz="2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ma </a:t>
            </a:r>
            <a:r>
              <a:rPr lang="en-US" sz="2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trận</a:t>
            </a:r>
            <a:r>
              <a:rPr lang="en-US" sz="2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chuyển</a:t>
            </a:r>
            <a:r>
              <a:rPr lang="en-US" sz="2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vị</a:t>
            </a:r>
            <a:r>
              <a:rPr lang="en-US" sz="2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ma </a:t>
            </a:r>
            <a:r>
              <a:rPr lang="en-US" sz="2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trận</a:t>
            </a:r>
            <a:r>
              <a:rPr lang="en-US" sz="2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sz="2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sz="2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 </a:t>
            </a:r>
            <a:r>
              <a:rPr lang="en-US" sz="2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trận</a:t>
            </a:r>
            <a:r>
              <a:rPr lang="en-US" sz="2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nghịch</a:t>
            </a:r>
            <a:r>
              <a:rPr lang="en-US" sz="2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đảo</a:t>
            </a:r>
            <a:r>
              <a:rPr lang="en-US" sz="2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gặp</a:t>
            </a:r>
            <a:r>
              <a:rPr lang="en-US" sz="2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2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phần</a:t>
            </a:r>
            <a:r>
              <a:rPr lang="en-US" sz="2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US" sz="2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457200" indent="-457200" algn="just">
              <a:buAutoNum type="arabicPeriod"/>
            </a:pPr>
            <a:endParaRPr lang="en-US" sz="22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buAutoNum type="arabicPeriod"/>
            </a:pPr>
            <a:r>
              <a:rPr lang="en-US" sz="22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Những</a:t>
            </a:r>
            <a:r>
              <a:rPr lang="en-US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bản</a:t>
            </a:r>
            <a:r>
              <a:rPr lang="en-US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như</a:t>
            </a:r>
            <a:r>
              <a:rPr lang="en-US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2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 </a:t>
            </a:r>
            <a:r>
              <a:rPr lang="en-US" sz="22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trận</a:t>
            </a:r>
            <a:r>
              <a:rPr lang="en-US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cộng</a:t>
            </a:r>
            <a:r>
              <a:rPr lang="en-US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hai</a:t>
            </a:r>
            <a:r>
              <a:rPr lang="en-US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 </a:t>
            </a:r>
            <a:r>
              <a:rPr lang="en-US" sz="22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trận</a:t>
            </a:r>
            <a:r>
              <a:rPr lang="en-US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hai</a:t>
            </a:r>
            <a:r>
              <a:rPr lang="en-US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 </a:t>
            </a:r>
            <a:r>
              <a:rPr lang="en-US" sz="22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trận</a:t>
            </a:r>
            <a:r>
              <a:rPr lang="en-US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2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chúng</a:t>
            </a:r>
            <a:endParaRPr lang="en-US" sz="22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buAutoNum type="arabicPeriod"/>
            </a:pPr>
            <a:endParaRPr lang="en-US" sz="2200" dirty="0">
              <a:solidFill>
                <a:schemeClr val="accent4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buAutoNum type="arabicPeriod"/>
            </a:pPr>
            <a:r>
              <a:rPr lang="en-US" sz="2200" dirty="0" err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22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2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22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sz="22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en-US" sz="22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trưng</a:t>
            </a:r>
            <a:r>
              <a:rPr lang="en-US" sz="22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2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phép</a:t>
            </a:r>
            <a:r>
              <a:rPr lang="en-US" sz="22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22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 </a:t>
            </a:r>
            <a:r>
              <a:rPr lang="en-US" sz="2200" dirty="0" err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trận</a:t>
            </a:r>
            <a:r>
              <a:rPr lang="en-US" sz="22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như</a:t>
            </a:r>
            <a:r>
              <a:rPr lang="en-US" sz="22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200" dirty="0" err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tổng</a:t>
            </a:r>
            <a:r>
              <a:rPr lang="en-US" sz="22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quát</a:t>
            </a:r>
            <a:r>
              <a:rPr lang="en-US" sz="22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22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giao</a:t>
            </a:r>
            <a:r>
              <a:rPr lang="en-US" sz="22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hoán</a:t>
            </a:r>
            <a:r>
              <a:rPr lang="en-US" sz="22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A.B ≠ B.A,… (</a:t>
            </a:r>
            <a:r>
              <a:rPr lang="en-US" sz="2200" dirty="0" err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gặp</a:t>
            </a:r>
            <a:r>
              <a:rPr lang="en-US" sz="22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2200" dirty="0" err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sz="22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457200" indent="-457200" algn="just">
              <a:buAutoNum type="arabicPeriod"/>
            </a:pPr>
            <a:endParaRPr lang="en-US" sz="22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buAutoNum type="arabicPeriod"/>
            </a:pPr>
            <a:r>
              <a:rPr lang="en-US" sz="2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2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hành</a:t>
            </a:r>
            <a:r>
              <a:rPr lang="en-US" sz="2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phép</a:t>
            </a:r>
            <a:r>
              <a:rPr lang="en-US" sz="2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biến</a:t>
            </a:r>
            <a:r>
              <a:rPr lang="en-US" sz="2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US" sz="2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2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sz="2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đó</a:t>
            </a:r>
            <a:r>
              <a:rPr lang="en-US" sz="2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đưa</a:t>
            </a:r>
            <a:r>
              <a:rPr lang="en-US" sz="2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 </a:t>
            </a:r>
            <a:r>
              <a:rPr lang="en-US" sz="2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trận</a:t>
            </a:r>
            <a:r>
              <a:rPr lang="en-US" sz="2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en-US" sz="2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dạng</a:t>
            </a:r>
            <a:r>
              <a:rPr lang="en-US" sz="2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bậc</a:t>
            </a:r>
            <a:r>
              <a:rPr lang="en-US" sz="2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thang, </a:t>
            </a:r>
            <a:r>
              <a:rPr lang="en-US" sz="2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tìm</a:t>
            </a:r>
            <a:r>
              <a:rPr lang="en-US" sz="2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hạng</a:t>
            </a:r>
            <a:r>
              <a:rPr lang="en-US" sz="2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 </a:t>
            </a:r>
            <a:r>
              <a:rPr lang="en-US" sz="2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trận</a:t>
            </a:r>
            <a:r>
              <a:rPr lang="en-US" sz="2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nghịch</a:t>
            </a:r>
            <a:r>
              <a:rPr lang="en-US" sz="2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đảo</a:t>
            </a:r>
            <a:endParaRPr lang="en-US" sz="22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buAutoNum type="arabicPeriod"/>
            </a:pPr>
            <a:endParaRPr lang="en-US" sz="22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buAutoNum type="arabicPeriod"/>
            </a:pPr>
            <a:endParaRPr lang="en-US" sz="22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buAutoNum type="arabicPeriod"/>
            </a:pPr>
            <a:endParaRPr lang="en-US" sz="22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buAutoNum type="arabicPeriod"/>
            </a:pPr>
            <a:endParaRPr lang="en-US" sz="22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10163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13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 flipH="1">
            <a:off x="5249314" y="103701"/>
            <a:ext cx="20093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 THỨC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 flipH="1">
                <a:off x="2359055" y="836327"/>
                <a:ext cx="891917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Định </a:t>
                </a:r>
                <a:r>
                  <a:rPr lang="en-US" sz="22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thức</a:t>
                </a:r>
                <a:r>
                  <a:rPr lang="en-US" sz="2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2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của</a:t>
                </a:r>
                <a:r>
                  <a:rPr lang="en-US" sz="2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2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một</a:t>
                </a:r>
                <a:r>
                  <a:rPr lang="en-US" sz="2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ma </a:t>
                </a:r>
                <a:r>
                  <a:rPr lang="en-US" sz="22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trận</a:t>
                </a:r>
                <a:r>
                  <a:rPr lang="en-US" sz="2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2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vuông</a:t>
                </a:r>
                <a:r>
                  <a:rPr lang="en-US" sz="2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A </a:t>
                </a:r>
                <a:r>
                  <a:rPr lang="en-US" sz="22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kí</a:t>
                </a:r>
                <a:r>
                  <a:rPr lang="en-US" sz="2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2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hiệu</a:t>
                </a:r>
                <a:r>
                  <a:rPr lang="en-US" sz="2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2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là</a:t>
                </a:r>
                <a:r>
                  <a:rPr lang="en-US" sz="2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200" b="1" i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d>
                  </m:oMath>
                </a14:m>
                <a:r>
                  <a:rPr lang="en-US" sz="2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2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hoặc</a:t>
                </a:r>
                <a:r>
                  <a:rPr lang="en-US" sz="2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2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det</a:t>
                </a:r>
                <a:r>
                  <a:rPr lang="en-US" sz="2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(A)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359055" y="836327"/>
                <a:ext cx="8919171" cy="430887"/>
              </a:xfrm>
              <a:prstGeom prst="rect">
                <a:avLst/>
              </a:prstGeom>
              <a:blipFill>
                <a:blip r:embed="rId2"/>
                <a:stretch>
                  <a:fillRect l="-889" t="-8451" b="-295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 flipH="1">
            <a:off x="253538" y="1895300"/>
            <a:ext cx="312974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 Ma </a:t>
            </a:r>
            <a:r>
              <a:rPr lang="en-US" sz="22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trận</a:t>
            </a:r>
            <a:r>
              <a:rPr lang="en-US" sz="2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vuông</a:t>
            </a:r>
            <a:r>
              <a:rPr lang="en-US" sz="2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cấp</a:t>
            </a:r>
            <a:r>
              <a:rPr lang="en-US" sz="2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1:           </a:t>
            </a:r>
            <a:r>
              <a:rPr lang="en-US" sz="22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sz="2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US" sz="2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cấp</a:t>
            </a:r>
            <a:r>
              <a:rPr lang="en-US" sz="2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 </a:t>
            </a:r>
          </a:p>
          <a:p>
            <a:endParaRPr lang="en-US" sz="22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350" y="2614935"/>
            <a:ext cx="4431531" cy="6104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 flipH="1">
            <a:off x="268083" y="3812034"/>
            <a:ext cx="312974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 Ma </a:t>
            </a:r>
            <a:r>
              <a:rPr lang="en-US" sz="22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trận</a:t>
            </a:r>
            <a:r>
              <a:rPr lang="en-US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vuông</a:t>
            </a:r>
            <a:r>
              <a:rPr lang="en-US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cấp</a:t>
            </a:r>
            <a:r>
              <a:rPr lang="en-US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2:           </a:t>
            </a:r>
            <a:r>
              <a:rPr lang="en-US" sz="22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US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cấp</a:t>
            </a:r>
            <a:r>
              <a:rPr lang="en-US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 </a:t>
            </a:r>
          </a:p>
          <a:p>
            <a:endParaRPr lang="en-US" sz="22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414" y="4542449"/>
            <a:ext cx="3636820" cy="1642042"/>
          </a:xfrm>
          <a:prstGeom prst="rect">
            <a:avLst/>
          </a:prstGeom>
        </p:spPr>
      </p:pic>
      <p:cxnSp>
        <p:nvCxnSpPr>
          <p:cNvPr id="19" name="Straight Arrow Connector 18"/>
          <p:cNvCxnSpPr/>
          <p:nvPr/>
        </p:nvCxnSpPr>
        <p:spPr>
          <a:xfrm>
            <a:off x="2352503" y="4746568"/>
            <a:ext cx="1097280" cy="806335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>
            <a:off x="2261063" y="4663440"/>
            <a:ext cx="1088966" cy="779489"/>
          </a:xfrm>
          <a:prstGeom prst="straightConnector1">
            <a:avLst/>
          </a:prstGeom>
          <a:ln w="19050">
            <a:solidFill>
              <a:schemeClr val="accent5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 flipH="1">
            <a:off x="5763008" y="1778919"/>
            <a:ext cx="312974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* Ma </a:t>
            </a:r>
            <a:r>
              <a:rPr lang="en-US" sz="22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trận</a:t>
            </a:r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vuông</a:t>
            </a:r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cấp</a:t>
            </a:r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3:           </a:t>
            </a:r>
            <a:r>
              <a:rPr lang="en-US" sz="22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cấp</a:t>
            </a:r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 </a:t>
            </a:r>
          </a:p>
          <a:p>
            <a:endParaRPr lang="en-US" sz="22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5911" y="2310617"/>
            <a:ext cx="5801044" cy="2529255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3748" y="5149735"/>
            <a:ext cx="3726641" cy="1604183"/>
          </a:xfrm>
          <a:prstGeom prst="rect">
            <a:avLst/>
          </a:prstGeom>
        </p:spPr>
      </p:pic>
      <p:cxnSp>
        <p:nvCxnSpPr>
          <p:cNvPr id="33" name="Straight Arrow Connector 32"/>
          <p:cNvCxnSpPr/>
          <p:nvPr/>
        </p:nvCxnSpPr>
        <p:spPr>
          <a:xfrm>
            <a:off x="7004771" y="5259502"/>
            <a:ext cx="1981287" cy="1390680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7655935" y="5187935"/>
            <a:ext cx="1981287" cy="1390680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8319333" y="5187935"/>
            <a:ext cx="1981287" cy="1390680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flipH="1">
            <a:off x="7078202" y="5242879"/>
            <a:ext cx="1874606" cy="1328219"/>
          </a:xfrm>
          <a:prstGeom prst="straightConnector1">
            <a:avLst/>
          </a:prstGeom>
          <a:ln w="19050">
            <a:solidFill>
              <a:schemeClr val="accent5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8419323" y="5320462"/>
            <a:ext cx="1874606" cy="1328219"/>
          </a:xfrm>
          <a:prstGeom prst="straightConnector1">
            <a:avLst/>
          </a:prstGeom>
          <a:ln w="19050">
            <a:solidFill>
              <a:schemeClr val="accent5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7723824" y="5289985"/>
            <a:ext cx="1874606" cy="1328219"/>
          </a:xfrm>
          <a:prstGeom prst="straightConnector1">
            <a:avLst/>
          </a:prstGeom>
          <a:ln w="19050">
            <a:solidFill>
              <a:schemeClr val="accent5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7949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14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 flipH="1">
            <a:off x="5132934" y="21457"/>
            <a:ext cx="2481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Laplace</a:t>
            </a:r>
          </a:p>
        </p:txBody>
      </p:sp>
      <p:sp>
        <p:nvSpPr>
          <p:cNvPr id="7" name="TextBox 6"/>
          <p:cNvSpPr txBox="1"/>
          <p:nvPr/>
        </p:nvSpPr>
        <p:spPr>
          <a:xfrm flipH="1">
            <a:off x="-1" y="528433"/>
            <a:ext cx="573462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Định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ma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trận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vuông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cấp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n</a:t>
            </a:r>
          </a:p>
          <a:p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endParaRPr 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56" y="1776800"/>
            <a:ext cx="3315230" cy="88182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56" y="3106750"/>
            <a:ext cx="3563562" cy="93219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 flipH="1">
            <a:off x="392039" y="1430488"/>
            <a:ext cx="27959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Khai</a:t>
            </a:r>
            <a:r>
              <a:rPr lang="en-US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triển</a:t>
            </a:r>
            <a:r>
              <a:rPr lang="en-US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dòng</a:t>
            </a:r>
            <a:endParaRPr lang="en-US" sz="20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 flipH="1">
            <a:off x="392038" y="2823075"/>
            <a:ext cx="27959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Khai</a:t>
            </a:r>
            <a:r>
              <a:rPr lang="en-US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triển</a:t>
            </a:r>
            <a:r>
              <a:rPr lang="en-US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cột</a:t>
            </a:r>
            <a:endParaRPr lang="en-US" sz="20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229" y="4075825"/>
            <a:ext cx="497291" cy="6781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 flipH="1">
            <a:off x="615136" y="4268091"/>
            <a:ext cx="43724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b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những</a:t>
            </a:r>
            <a:r>
              <a:rPr lang="en-U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phần</a:t>
            </a:r>
            <a:r>
              <a:rPr lang="en-U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 </a:t>
            </a:r>
            <a:r>
              <a:rPr lang="en-US" sz="2000" b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trận</a:t>
            </a:r>
            <a:r>
              <a:rPr lang="en-U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371" y="5518598"/>
            <a:ext cx="1798493" cy="56679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 flipH="1">
            <a:off x="813654" y="5991609"/>
            <a:ext cx="49209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b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những</a:t>
            </a:r>
            <a:r>
              <a:rPr lang="en-U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 </a:t>
            </a:r>
            <a:r>
              <a:rPr lang="en-US" sz="2000" b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trận</a:t>
            </a:r>
            <a:r>
              <a:rPr lang="en-U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 </a:t>
            </a:r>
            <a:r>
              <a:rPr lang="en-US" sz="2000" b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 </a:t>
            </a:r>
            <a:r>
              <a:rPr lang="en-US" sz="2000" b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trận</a:t>
            </a:r>
            <a:r>
              <a:rPr lang="en-U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803" y="5968754"/>
            <a:ext cx="447433" cy="559291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1371" y="4841739"/>
            <a:ext cx="1428316" cy="60384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 flipH="1">
            <a:off x="1540624" y="4943848"/>
            <a:ext cx="29399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b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phần</a:t>
            </a:r>
            <a:r>
              <a:rPr lang="en-U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bù</a:t>
            </a:r>
            <a:r>
              <a:rPr lang="en-U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đại</a:t>
            </a:r>
            <a:r>
              <a:rPr lang="en-U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endParaRPr lang="en-US" sz="20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3193" y="1354405"/>
            <a:ext cx="2188174" cy="1529369"/>
          </a:xfrm>
          <a:prstGeom prst="rect">
            <a:avLst/>
          </a:prstGeom>
        </p:spPr>
      </p:pic>
      <p:cxnSp>
        <p:nvCxnSpPr>
          <p:cNvPr id="24" name="Straight Connector 23"/>
          <p:cNvCxnSpPr/>
          <p:nvPr/>
        </p:nvCxnSpPr>
        <p:spPr>
          <a:xfrm>
            <a:off x="6533801" y="1421478"/>
            <a:ext cx="0" cy="1319570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6362006" y="1602232"/>
            <a:ext cx="1934096" cy="0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6694486" y="995016"/>
            <a:ext cx="479395" cy="496735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Picture 3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258" y="554380"/>
            <a:ext cx="1245264" cy="615790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56097" y="1948598"/>
            <a:ext cx="3005917" cy="1087507"/>
          </a:xfrm>
          <a:prstGeom prst="rect">
            <a:avLst/>
          </a:prstGeom>
        </p:spPr>
      </p:pic>
      <p:cxnSp>
        <p:nvCxnSpPr>
          <p:cNvPr id="40" name="Straight Arrow Connector 39"/>
          <p:cNvCxnSpPr/>
          <p:nvPr/>
        </p:nvCxnSpPr>
        <p:spPr>
          <a:xfrm flipV="1">
            <a:off x="8380090" y="2492352"/>
            <a:ext cx="592633" cy="68452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Picture 4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4401" y="3227540"/>
            <a:ext cx="2188174" cy="1529369"/>
          </a:xfrm>
          <a:prstGeom prst="rect">
            <a:avLst/>
          </a:prstGeom>
        </p:spPr>
      </p:pic>
      <p:cxnSp>
        <p:nvCxnSpPr>
          <p:cNvPr id="43" name="Straight Connector 42"/>
          <p:cNvCxnSpPr/>
          <p:nvPr/>
        </p:nvCxnSpPr>
        <p:spPr>
          <a:xfrm>
            <a:off x="6314901" y="3491990"/>
            <a:ext cx="1934096" cy="0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184965" y="3344491"/>
            <a:ext cx="0" cy="1319570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Picture 4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87635" y="2883774"/>
            <a:ext cx="1129407" cy="558498"/>
          </a:xfrm>
          <a:prstGeom prst="rect">
            <a:avLst/>
          </a:prstGeom>
        </p:spPr>
      </p:pic>
      <p:cxnSp>
        <p:nvCxnSpPr>
          <p:cNvPr id="47" name="Curved Connector 46"/>
          <p:cNvCxnSpPr>
            <a:endCxn id="45" idx="3"/>
          </p:cNvCxnSpPr>
          <p:nvPr/>
        </p:nvCxnSpPr>
        <p:spPr>
          <a:xfrm rot="10800000">
            <a:off x="6117042" y="3163024"/>
            <a:ext cx="982850" cy="279251"/>
          </a:xfrm>
          <a:prstGeom prst="curvedConnector3">
            <a:avLst>
              <a:gd name="adj1" fmla="val 17860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Picture 5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30910" y="3739097"/>
            <a:ext cx="2998397" cy="1084786"/>
          </a:xfrm>
          <a:prstGeom prst="rect">
            <a:avLst/>
          </a:prstGeom>
        </p:spPr>
      </p:pic>
      <p:cxnSp>
        <p:nvCxnSpPr>
          <p:cNvPr id="52" name="Straight Arrow Connector 51"/>
          <p:cNvCxnSpPr/>
          <p:nvPr/>
        </p:nvCxnSpPr>
        <p:spPr>
          <a:xfrm flipV="1">
            <a:off x="8366235" y="4265733"/>
            <a:ext cx="592633" cy="68452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Picture 5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5608" y="5175487"/>
            <a:ext cx="2188174" cy="1529369"/>
          </a:xfrm>
          <a:prstGeom prst="rect">
            <a:avLst/>
          </a:prstGeom>
        </p:spPr>
      </p:pic>
      <p:cxnSp>
        <p:nvCxnSpPr>
          <p:cNvPr id="54" name="Straight Connector 53"/>
          <p:cNvCxnSpPr/>
          <p:nvPr/>
        </p:nvCxnSpPr>
        <p:spPr>
          <a:xfrm>
            <a:off x="7836129" y="5300751"/>
            <a:ext cx="0" cy="1319570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6251173" y="5439938"/>
            <a:ext cx="1934096" cy="0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Picture 5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58283" y="4825264"/>
            <a:ext cx="1134766" cy="561148"/>
          </a:xfrm>
          <a:prstGeom prst="rect">
            <a:avLst/>
          </a:prstGeom>
        </p:spPr>
      </p:pic>
      <p:cxnSp>
        <p:nvCxnSpPr>
          <p:cNvPr id="57" name="Straight Arrow Connector 56"/>
          <p:cNvCxnSpPr/>
          <p:nvPr/>
        </p:nvCxnSpPr>
        <p:spPr>
          <a:xfrm flipV="1">
            <a:off x="8046720" y="5225203"/>
            <a:ext cx="511563" cy="129939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Picture 5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64257" y="5607456"/>
            <a:ext cx="2857478" cy="1033803"/>
          </a:xfrm>
          <a:prstGeom prst="rect">
            <a:avLst/>
          </a:prstGeom>
        </p:spPr>
      </p:pic>
      <p:cxnSp>
        <p:nvCxnSpPr>
          <p:cNvPr id="61" name="Straight Arrow Connector 60"/>
          <p:cNvCxnSpPr/>
          <p:nvPr/>
        </p:nvCxnSpPr>
        <p:spPr>
          <a:xfrm flipV="1">
            <a:off x="8357062" y="6084184"/>
            <a:ext cx="511563" cy="129939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80935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15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84" y="291117"/>
            <a:ext cx="2064501" cy="1542443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 flipH="1">
            <a:off x="473824" y="282804"/>
            <a:ext cx="24938" cy="1604185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202274" y="473998"/>
            <a:ext cx="2042162" cy="8313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ight Arrow 11"/>
          <p:cNvSpPr/>
          <p:nvPr/>
        </p:nvSpPr>
        <p:spPr>
          <a:xfrm>
            <a:off x="2244436" y="915953"/>
            <a:ext cx="650038" cy="1813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2" y="2047871"/>
            <a:ext cx="2064501" cy="1542443"/>
          </a:xfrm>
          <a:prstGeom prst="rect">
            <a:avLst/>
          </a:prstGeom>
        </p:spPr>
      </p:pic>
      <p:cxnSp>
        <p:nvCxnSpPr>
          <p:cNvPr id="14" name="Straight Connector 13"/>
          <p:cNvCxnSpPr/>
          <p:nvPr/>
        </p:nvCxnSpPr>
        <p:spPr>
          <a:xfrm flipV="1">
            <a:off x="47104" y="2288941"/>
            <a:ext cx="2042162" cy="8313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1731815" y="3685484"/>
            <a:ext cx="24938" cy="1604185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ight Arrow 15"/>
          <p:cNvSpPr/>
          <p:nvPr/>
        </p:nvSpPr>
        <p:spPr>
          <a:xfrm>
            <a:off x="2197331" y="2639459"/>
            <a:ext cx="650038" cy="1813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4225" y="601154"/>
            <a:ext cx="3202441" cy="905741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3867" y="2222439"/>
            <a:ext cx="3062984" cy="97458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0851" y="3965644"/>
            <a:ext cx="2749536" cy="938866"/>
          </a:xfrm>
          <a:prstGeom prst="rect">
            <a:avLst/>
          </a:prstGeom>
        </p:spPr>
      </p:pic>
      <p:sp>
        <p:nvSpPr>
          <p:cNvPr id="20" name="Right Arrow 19"/>
          <p:cNvSpPr/>
          <p:nvPr/>
        </p:nvSpPr>
        <p:spPr>
          <a:xfrm>
            <a:off x="2283230" y="4338030"/>
            <a:ext cx="650038" cy="1813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8" y="3771376"/>
            <a:ext cx="2064501" cy="1542443"/>
          </a:xfrm>
          <a:prstGeom prst="rect">
            <a:avLst/>
          </a:prstGeom>
        </p:spPr>
      </p:pic>
      <p:cxnSp>
        <p:nvCxnSpPr>
          <p:cNvPr id="22" name="Straight Connector 21"/>
          <p:cNvCxnSpPr/>
          <p:nvPr/>
        </p:nvCxnSpPr>
        <p:spPr>
          <a:xfrm flipV="1">
            <a:off x="83126" y="3995821"/>
            <a:ext cx="2042162" cy="8313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274" y="5461586"/>
            <a:ext cx="6748394" cy="974631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1467" y="601154"/>
            <a:ext cx="3741661" cy="1731018"/>
          </a:xfrm>
          <a:prstGeom prst="rect">
            <a:avLst/>
          </a:prstGeom>
        </p:spPr>
      </p:pic>
      <p:cxnSp>
        <p:nvCxnSpPr>
          <p:cNvPr id="29" name="Straight Connector 28"/>
          <p:cNvCxnSpPr/>
          <p:nvPr/>
        </p:nvCxnSpPr>
        <p:spPr>
          <a:xfrm>
            <a:off x="7996844" y="601154"/>
            <a:ext cx="1978429" cy="169610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8623071" y="554048"/>
            <a:ext cx="1978429" cy="169610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9387838" y="570675"/>
            <a:ext cx="1978429" cy="169610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H="1">
            <a:off x="7996844" y="570675"/>
            <a:ext cx="1978429" cy="1565696"/>
          </a:xfrm>
          <a:prstGeom prst="line">
            <a:avLst/>
          </a:prstGeom>
          <a:ln w="28575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>
            <a:off x="8681260" y="656572"/>
            <a:ext cx="1978429" cy="1565696"/>
          </a:xfrm>
          <a:prstGeom prst="line">
            <a:avLst/>
          </a:prstGeom>
          <a:ln w="28575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H="1">
            <a:off x="9279774" y="698137"/>
            <a:ext cx="1978429" cy="1565696"/>
          </a:xfrm>
          <a:prstGeom prst="line">
            <a:avLst/>
          </a:prstGeom>
          <a:ln w="28575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3129" y="3022253"/>
            <a:ext cx="5887034" cy="2110220"/>
          </a:xfrm>
          <a:prstGeom prst="rect">
            <a:avLst/>
          </a:prstGeom>
        </p:spPr>
      </p:pic>
      <p:sp>
        <p:nvSpPr>
          <p:cNvPr id="37" name="Down Arrow 36"/>
          <p:cNvSpPr/>
          <p:nvPr/>
        </p:nvSpPr>
        <p:spPr>
          <a:xfrm>
            <a:off x="9501447" y="2468881"/>
            <a:ext cx="673331" cy="4619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/>
          <p:cNvCxnSpPr/>
          <p:nvPr/>
        </p:nvCxnSpPr>
        <p:spPr>
          <a:xfrm flipH="1">
            <a:off x="1079376" y="2005052"/>
            <a:ext cx="24938" cy="1604185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99960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16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01" y="123218"/>
            <a:ext cx="2024409" cy="171612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98" y="1838410"/>
            <a:ext cx="2024409" cy="171612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72" y="3509266"/>
            <a:ext cx="2024409" cy="171612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85" y="5180116"/>
            <a:ext cx="2024409" cy="1716123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515389" y="139844"/>
            <a:ext cx="0" cy="159751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399308" y="3550828"/>
            <a:ext cx="0" cy="1597516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942406" y="5241077"/>
            <a:ext cx="0" cy="159751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064031" y="1927079"/>
            <a:ext cx="0" cy="1597516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285403" y="290945"/>
            <a:ext cx="1875906" cy="13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279861" y="5397719"/>
            <a:ext cx="1875906" cy="130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266008" y="3704700"/>
            <a:ext cx="1875906" cy="130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302028" y="2028306"/>
            <a:ext cx="1875906" cy="130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5984" y="12379"/>
            <a:ext cx="5534025" cy="1676400"/>
          </a:xfrm>
          <a:prstGeom prst="rect">
            <a:avLst/>
          </a:prstGeom>
        </p:spPr>
      </p:pic>
      <p:sp>
        <p:nvSpPr>
          <p:cNvPr id="26" name="Right Arrow 25"/>
          <p:cNvSpPr/>
          <p:nvPr/>
        </p:nvSpPr>
        <p:spPr>
          <a:xfrm>
            <a:off x="2327564" y="938602"/>
            <a:ext cx="656705" cy="25011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4047" y="290945"/>
            <a:ext cx="2105025" cy="123825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0442" y="1769132"/>
            <a:ext cx="7629525" cy="1724025"/>
          </a:xfrm>
          <a:prstGeom prst="rect">
            <a:avLst/>
          </a:prstGeom>
        </p:spPr>
      </p:pic>
      <p:sp>
        <p:nvSpPr>
          <p:cNvPr id="29" name="Right Arrow 28"/>
          <p:cNvSpPr/>
          <p:nvPr/>
        </p:nvSpPr>
        <p:spPr>
          <a:xfrm>
            <a:off x="2313710" y="2720296"/>
            <a:ext cx="656705" cy="25011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4047" y="1747707"/>
            <a:ext cx="2409825" cy="123825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90442" y="3515247"/>
            <a:ext cx="7648575" cy="1724025"/>
          </a:xfrm>
          <a:prstGeom prst="rect">
            <a:avLst/>
          </a:prstGeom>
        </p:spPr>
      </p:pic>
      <p:sp>
        <p:nvSpPr>
          <p:cNvPr id="32" name="Right Arrow 31"/>
          <p:cNvSpPr/>
          <p:nvPr/>
        </p:nvSpPr>
        <p:spPr>
          <a:xfrm>
            <a:off x="2283230" y="4285859"/>
            <a:ext cx="656705" cy="25011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4046" y="3524595"/>
            <a:ext cx="2409825" cy="1238250"/>
          </a:xfrm>
          <a:prstGeom prst="rect">
            <a:avLst/>
          </a:prstGeom>
        </p:spPr>
      </p:pic>
      <p:sp>
        <p:nvSpPr>
          <p:cNvPr id="34" name="Oval 33"/>
          <p:cNvSpPr/>
          <p:nvPr/>
        </p:nvSpPr>
        <p:spPr>
          <a:xfrm>
            <a:off x="10514011" y="3200963"/>
            <a:ext cx="305956" cy="248819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 flipH="1">
            <a:off x="10458794" y="3148230"/>
            <a:ext cx="540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16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98755" y="5148344"/>
            <a:ext cx="6962775" cy="1724025"/>
          </a:xfrm>
          <a:prstGeom prst="rect">
            <a:avLst/>
          </a:prstGeom>
        </p:spPr>
      </p:pic>
      <p:sp>
        <p:nvSpPr>
          <p:cNvPr id="37" name="Right Arrow 36"/>
          <p:cNvSpPr/>
          <p:nvPr/>
        </p:nvSpPr>
        <p:spPr>
          <a:xfrm>
            <a:off x="2285999" y="6001051"/>
            <a:ext cx="656705" cy="25011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28751" y="5225389"/>
            <a:ext cx="2276475" cy="1238250"/>
          </a:xfrm>
          <a:prstGeom prst="rect">
            <a:avLst/>
          </a:prstGeom>
        </p:spPr>
      </p:pic>
      <p:cxnSp>
        <p:nvCxnSpPr>
          <p:cNvPr id="40" name="Straight Connector 39"/>
          <p:cNvCxnSpPr/>
          <p:nvPr/>
        </p:nvCxnSpPr>
        <p:spPr>
          <a:xfrm>
            <a:off x="9601200" y="290945"/>
            <a:ext cx="1218767" cy="123825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9753600" y="443345"/>
            <a:ext cx="1218767" cy="123825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9997438" y="354675"/>
            <a:ext cx="1218767" cy="123825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10354888" y="288172"/>
            <a:ext cx="1218767" cy="123825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H="1">
            <a:off x="9601200" y="354675"/>
            <a:ext cx="1127758" cy="1058489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H="1">
            <a:off x="9961416" y="423948"/>
            <a:ext cx="1127758" cy="1058489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H="1">
            <a:off x="10393681" y="415635"/>
            <a:ext cx="1127758" cy="1058489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35407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17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 flipH="1">
            <a:off x="3172077" y="337045"/>
            <a:ext cx="615803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bản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endParaRPr lang="en-US" sz="2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8026" y="1213807"/>
            <a:ext cx="1183864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AutoNum type="arabicPeriod"/>
            </a:pPr>
            <a:r>
              <a:rPr lang="en-US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đã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đúng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biểu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thì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nó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vẫn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còn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đúng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biểu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 </a:t>
            </a:r>
            <a:r>
              <a:rPr lang="en-US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thay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cột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buAutoNum type="arabicPeriod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môt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cột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toàn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0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thì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buAutoNum type="arabicPeriod"/>
            </a:pP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hai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cột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như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nhau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thì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buAutoNum type="arabicPeriod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hai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cột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tỉ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lệ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thì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buAutoNum type="arabicPeriod"/>
            </a:pP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Nếu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cột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tổ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tuyến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cột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khác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thì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đó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buAutoNum type="arabicPeriod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ma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trận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tam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tích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phần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chéo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buAutoNum type="arabicPeriod"/>
            </a:pP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chỗ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hai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cột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mới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cũ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dấu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buAutoNum type="arabicPeriod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phần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cột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thừa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chung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ta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đưa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thừa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chung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đó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ngoài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buAutoNum type="arabicPeriod"/>
            </a:pP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phần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cột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cùng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thì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mới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cũ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buAutoNum type="arabicPeriod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cộng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bội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k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cột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cột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mới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cũ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buAutoNum type="arabicPeriod"/>
            </a:pP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tất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cả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phần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cột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dạng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tổng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hai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hạng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thì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tích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tổng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hai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342900" indent="-342900" algn="just">
              <a:buAutoNum type="arabicPeriod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det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(A) =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det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(A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342900" indent="-342900" algn="just">
              <a:buAutoNum type="arabicPeriod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det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(AB) =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det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det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(B), 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B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hai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ma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trận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vuông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cùng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cấp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</a:t>
            </a:r>
          </a:p>
          <a:p>
            <a:pPr marL="342900" indent="-342900" algn="just"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4872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18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 flipH="1">
            <a:off x="4822853" y="110468"/>
            <a:ext cx="29697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trận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nghịch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đảo</a:t>
            </a:r>
            <a:endParaRPr lang="en-US" sz="2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30" y="1084330"/>
            <a:ext cx="1918908" cy="13411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 flipH="1">
            <a:off x="1799061" y="1069340"/>
            <a:ext cx="32558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20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 </a:t>
            </a:r>
            <a:r>
              <a:rPr lang="en-US" sz="20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trận</a:t>
            </a:r>
            <a:r>
              <a:rPr lang="en-US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khả</a:t>
            </a:r>
            <a:r>
              <a:rPr lang="en-US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nghịch</a:t>
            </a:r>
            <a:endParaRPr lang="en-US" sz="20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 flipH="1">
            <a:off x="1799060" y="1352561"/>
            <a:ext cx="32558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20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suy</a:t>
            </a:r>
            <a:r>
              <a:rPr lang="en-US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biến</a:t>
            </a:r>
            <a:endParaRPr lang="en-US" sz="20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 flipH="1">
            <a:off x="1789619" y="1674893"/>
            <a:ext cx="4319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 </a:t>
            </a:r>
            <a:r>
              <a:rPr lang="en-US" sz="20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 </a:t>
            </a:r>
            <a:r>
              <a:rPr lang="en-US" sz="20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trận</a:t>
            </a:r>
            <a:r>
              <a:rPr lang="en-US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nghịch</a:t>
            </a:r>
            <a:r>
              <a:rPr lang="en-US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đảo</a:t>
            </a:r>
            <a:r>
              <a:rPr lang="en-US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</a:t>
            </a:r>
          </a:p>
        </p:txBody>
      </p:sp>
      <p:sp>
        <p:nvSpPr>
          <p:cNvPr id="10" name="TextBox 9"/>
          <p:cNvSpPr txBox="1"/>
          <p:nvPr/>
        </p:nvSpPr>
        <p:spPr>
          <a:xfrm flipH="1">
            <a:off x="1788271" y="1997225"/>
            <a:ext cx="4319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 </a:t>
            </a:r>
            <a:r>
              <a:rPr lang="en-US" sz="20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 </a:t>
            </a:r>
            <a:r>
              <a:rPr lang="en-US" sz="20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trận</a:t>
            </a:r>
            <a:r>
              <a:rPr lang="en-US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duy</a:t>
            </a:r>
            <a:r>
              <a:rPr lang="en-US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nhất</a:t>
            </a:r>
            <a:endParaRPr lang="en-US" sz="20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 flipH="1">
            <a:off x="125963" y="2793690"/>
            <a:ext cx="41709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Nếu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B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khả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nghịch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thì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657" y="3310230"/>
            <a:ext cx="2744486" cy="315935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8258" y="110468"/>
            <a:ext cx="2615793" cy="111137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3960" y="1133732"/>
            <a:ext cx="4130091" cy="59001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5986" y="2045679"/>
            <a:ext cx="2077598" cy="155222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6674" y="2197280"/>
            <a:ext cx="1589568" cy="998279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81409" y="3512219"/>
            <a:ext cx="5452663" cy="2081780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56242" y="2316122"/>
            <a:ext cx="3252511" cy="660899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81409" y="5654450"/>
            <a:ext cx="2035867" cy="105443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01883" y="5674828"/>
            <a:ext cx="2329582" cy="1147143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56242" y="3787936"/>
            <a:ext cx="3245220" cy="2775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141668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2771</TotalTime>
  <Words>1192</Words>
  <Application>Microsoft Office PowerPoint</Application>
  <PresentationFormat>Widescreen</PresentationFormat>
  <Paragraphs>185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Cambria Math</vt:lpstr>
      <vt:lpstr>Tw Cen MT</vt:lpstr>
      <vt:lpstr>Wingdings</vt:lpstr>
      <vt:lpstr>Droplet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levansang</dc:creator>
  <cp:lastModifiedBy>Nguyễn Gia Bảo</cp:lastModifiedBy>
  <cp:revision>426</cp:revision>
  <dcterms:created xsi:type="dcterms:W3CDTF">2022-09-04T11:50:20Z</dcterms:created>
  <dcterms:modified xsi:type="dcterms:W3CDTF">2022-10-13T02:21:41Z</dcterms:modified>
</cp:coreProperties>
</file>